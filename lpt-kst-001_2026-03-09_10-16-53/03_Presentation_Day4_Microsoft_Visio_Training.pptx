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4379" r:id="rId4"/>
    <p:sldId id="336" r:id="rId5"/>
    <p:sldId id="4364" r:id="rId6"/>
    <p:sldId id="4380" r:id="rId7"/>
    <p:sldId id="4381" r:id="rId8"/>
    <p:sldId id="4382" r:id="rId9"/>
    <p:sldId id="4383" r:id="rId10"/>
    <p:sldId id="4384" r:id="rId11"/>
    <p:sldId id="4385" r:id="rId12"/>
    <p:sldId id="4386" r:id="rId13"/>
    <p:sldId id="4387" r:id="rId14"/>
    <p:sldId id="4388" r:id="rId15"/>
    <p:sldId id="4389" r:id="rId16"/>
    <p:sldId id="4373" r:id="rId17"/>
    <p:sldId id="4374" r:id="rId18"/>
    <p:sldId id="26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DFB93-A0BE-433B-809C-5A141E1043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3DA5FE-10FA-4BCB-9018-1D6D6519DDD4}">
      <dgm:prSet/>
      <dgm:spPr/>
      <dgm:t>
        <a:bodyPr/>
        <a:lstStyle/>
        <a:p>
          <a:pPr rtl="1"/>
          <a:r>
            <a:rPr lang="fa-IR" dirty="0"/>
            <a:t>معرفی </a:t>
          </a:r>
          <a:r>
            <a:rPr lang="en-US" dirty="0"/>
            <a:t>Shape Data</a:t>
          </a:r>
          <a:r>
            <a:rPr lang="ps-AF" dirty="0"/>
            <a:t> </a:t>
          </a:r>
          <a:r>
            <a:rPr lang="fa-IR" dirty="0"/>
            <a:t>در </a:t>
          </a:r>
          <a:r>
            <a:rPr lang="en-US" dirty="0"/>
            <a:t>Visio</a:t>
          </a:r>
        </a:p>
      </dgm:t>
    </dgm:pt>
    <dgm:pt modelId="{5B737DD5-4222-4DF0-BFC9-722D3267F37E}" type="parTrans" cxnId="{A2EA1B05-2410-4824-9C3F-1012100ADC42}">
      <dgm:prSet/>
      <dgm:spPr/>
      <dgm:t>
        <a:bodyPr/>
        <a:lstStyle/>
        <a:p>
          <a:endParaRPr lang="en-US"/>
        </a:p>
      </dgm:t>
    </dgm:pt>
    <dgm:pt modelId="{096CC1C6-766B-428E-A932-2930F85802CB}" type="sibTrans" cxnId="{A2EA1B05-2410-4824-9C3F-1012100ADC42}">
      <dgm:prSet/>
      <dgm:spPr/>
      <dgm:t>
        <a:bodyPr/>
        <a:lstStyle/>
        <a:p>
          <a:endParaRPr lang="en-US"/>
        </a:p>
      </dgm:t>
    </dgm:pt>
    <dgm:pt modelId="{BEE0C076-0E6E-4D87-BB07-ACB49C810C9A}">
      <dgm:prSet/>
      <dgm:spPr/>
      <dgm:t>
        <a:bodyPr/>
        <a:lstStyle/>
        <a:p>
          <a:pPr rtl="1"/>
          <a:r>
            <a:rPr lang="fa-IR" dirty="0"/>
            <a:t>لینک‌سازی دیتا از </a:t>
          </a:r>
          <a:r>
            <a:rPr lang="en-US" dirty="0"/>
            <a:t>Excel</a:t>
          </a:r>
          <a:r>
            <a:rPr lang="prs-AF" dirty="0"/>
            <a:t> </a:t>
          </a:r>
          <a:r>
            <a:rPr lang="en-US" dirty="0"/>
            <a:t> </a:t>
          </a:r>
          <a:r>
            <a:rPr lang="fa-IR" dirty="0"/>
            <a:t>به </a:t>
          </a:r>
          <a:r>
            <a:rPr lang="en-US" dirty="0"/>
            <a:t>Visio</a:t>
          </a:r>
        </a:p>
      </dgm:t>
    </dgm:pt>
    <dgm:pt modelId="{018A9C70-5AF5-4267-AC3D-03288A0E1451}" type="parTrans" cxnId="{EF9C5870-F97A-404E-9D5D-AE3A290CF198}">
      <dgm:prSet/>
      <dgm:spPr/>
      <dgm:t>
        <a:bodyPr/>
        <a:lstStyle/>
        <a:p>
          <a:endParaRPr lang="en-US"/>
        </a:p>
      </dgm:t>
    </dgm:pt>
    <dgm:pt modelId="{E4C5BECD-647D-448B-9EEE-23E002527164}" type="sibTrans" cxnId="{EF9C5870-F97A-404E-9D5D-AE3A290CF198}">
      <dgm:prSet/>
      <dgm:spPr/>
      <dgm:t>
        <a:bodyPr/>
        <a:lstStyle/>
        <a:p>
          <a:endParaRPr lang="en-US"/>
        </a:p>
      </dgm:t>
    </dgm:pt>
    <dgm:pt modelId="{B267E88E-5646-4E75-A972-A89736113373}">
      <dgm:prSet/>
      <dgm:spPr/>
      <dgm:t>
        <a:bodyPr/>
        <a:lstStyle/>
        <a:p>
          <a:pPr rtl="1"/>
          <a:r>
            <a:rPr lang="fa-IR" dirty="0"/>
            <a:t>معرفی </a:t>
          </a:r>
          <a:r>
            <a:rPr lang="en-US" dirty="0"/>
            <a:t>Data Graphics</a:t>
          </a:r>
          <a:r>
            <a:rPr lang="ps-AF" dirty="0"/>
            <a:t> </a:t>
          </a:r>
          <a:r>
            <a:rPr lang="en-US" dirty="0"/>
            <a:t> </a:t>
          </a:r>
          <a:r>
            <a:rPr lang="fa-IR" dirty="0"/>
            <a:t>در </a:t>
          </a:r>
          <a:r>
            <a:rPr lang="en-US" dirty="0"/>
            <a:t>Visio</a:t>
          </a:r>
        </a:p>
      </dgm:t>
    </dgm:pt>
    <dgm:pt modelId="{8C498F6F-8F73-48F7-B7FA-3EFADDE8DEBA}" type="parTrans" cxnId="{103FF3DA-BD91-4A6C-B5BE-88DCA3DC7AF4}">
      <dgm:prSet/>
      <dgm:spPr/>
      <dgm:t>
        <a:bodyPr/>
        <a:lstStyle/>
        <a:p>
          <a:endParaRPr lang="en-US"/>
        </a:p>
      </dgm:t>
    </dgm:pt>
    <dgm:pt modelId="{9F3CCC9F-0CA6-4B3B-8651-F33A0104E531}" type="sibTrans" cxnId="{103FF3DA-BD91-4A6C-B5BE-88DCA3DC7AF4}">
      <dgm:prSet/>
      <dgm:spPr/>
      <dgm:t>
        <a:bodyPr/>
        <a:lstStyle/>
        <a:p>
          <a:endParaRPr lang="en-US"/>
        </a:p>
      </dgm:t>
    </dgm:pt>
    <dgm:pt modelId="{6079F31E-D8F2-4535-8BBA-E111AF1984EE}">
      <dgm:prSet/>
      <dgm:spPr/>
      <dgm:t>
        <a:bodyPr/>
        <a:lstStyle/>
        <a:p>
          <a:pPr rtl="1"/>
          <a:r>
            <a:rPr lang="fa-IR" dirty="0"/>
            <a:t>فرمت‌گذاری شرطی (</a:t>
          </a:r>
          <a:r>
            <a:rPr lang="en-US" dirty="0"/>
            <a:t>Conditional Formatting</a:t>
          </a:r>
          <a:r>
            <a:rPr lang="ps-AF" dirty="0"/>
            <a:t>) </a:t>
          </a:r>
          <a:r>
            <a:rPr lang="en-US" dirty="0"/>
            <a:t> </a:t>
          </a:r>
          <a:r>
            <a:rPr lang="fa-IR" dirty="0"/>
            <a:t>در </a:t>
          </a:r>
          <a:r>
            <a:rPr lang="en-US" dirty="0"/>
            <a:t>Data Graphics</a:t>
          </a:r>
        </a:p>
      </dgm:t>
    </dgm:pt>
    <dgm:pt modelId="{F3BE60A1-3DE1-47B7-A3F0-D8C5B18283BA}" type="parTrans" cxnId="{5C328228-CD68-46EA-88B8-CE1332FDED03}">
      <dgm:prSet/>
      <dgm:spPr/>
      <dgm:t>
        <a:bodyPr/>
        <a:lstStyle/>
        <a:p>
          <a:endParaRPr lang="en-US"/>
        </a:p>
      </dgm:t>
    </dgm:pt>
    <dgm:pt modelId="{7829822A-B758-4B86-8216-77D817253D25}" type="sibTrans" cxnId="{5C328228-CD68-46EA-88B8-CE1332FDED03}">
      <dgm:prSet/>
      <dgm:spPr/>
      <dgm:t>
        <a:bodyPr/>
        <a:lstStyle/>
        <a:p>
          <a:endParaRPr lang="en-US"/>
        </a:p>
      </dgm:t>
    </dgm:pt>
    <dgm:pt modelId="{B3E6ABCE-6618-4D7D-B238-5C907E76618D}">
      <dgm:prSet/>
      <dgm:spPr/>
      <dgm:t>
        <a:bodyPr/>
        <a:lstStyle/>
        <a:p>
          <a:pPr rtl="1"/>
          <a:r>
            <a:rPr lang="ps-AF" dirty="0"/>
            <a:t>کار عملی </a:t>
          </a:r>
          <a:endParaRPr lang="en-US" dirty="0"/>
        </a:p>
      </dgm:t>
    </dgm:pt>
    <dgm:pt modelId="{E2111020-A923-45B6-A717-389BA4C43E2E}" type="parTrans" cxnId="{BBFA9DB2-8F8B-4241-87AD-AC8725513A22}">
      <dgm:prSet/>
      <dgm:spPr/>
      <dgm:t>
        <a:bodyPr/>
        <a:lstStyle/>
        <a:p>
          <a:endParaRPr lang="en-US"/>
        </a:p>
      </dgm:t>
    </dgm:pt>
    <dgm:pt modelId="{CB0E52D2-0076-4C1F-BBD8-4A06361A055C}" type="sibTrans" cxnId="{BBFA9DB2-8F8B-4241-87AD-AC8725513A22}">
      <dgm:prSet/>
      <dgm:spPr/>
      <dgm:t>
        <a:bodyPr/>
        <a:lstStyle/>
        <a:p>
          <a:endParaRPr lang="en-US"/>
        </a:p>
      </dgm:t>
    </dgm:pt>
    <dgm:pt modelId="{BF59B1A2-B3E0-4B8D-879D-7C624AF8A68E}">
      <dgm:prSet/>
      <dgm:spPr/>
      <dgm:t>
        <a:bodyPr/>
        <a:lstStyle/>
        <a:p>
          <a:pPr rtl="1"/>
          <a:r>
            <a:rPr lang="fa-IR" dirty="0"/>
            <a:t>پرسش و پاسخ</a:t>
          </a:r>
          <a:endParaRPr lang="en-US" dirty="0"/>
        </a:p>
      </dgm:t>
    </dgm:pt>
    <dgm:pt modelId="{9F642227-DB76-40ED-B9E7-CFA60A89C45B}" type="parTrans" cxnId="{43A83E84-27C1-4927-ACE4-0B404F115BD7}">
      <dgm:prSet/>
      <dgm:spPr/>
      <dgm:t>
        <a:bodyPr/>
        <a:lstStyle/>
        <a:p>
          <a:endParaRPr lang="en-US"/>
        </a:p>
      </dgm:t>
    </dgm:pt>
    <dgm:pt modelId="{FD918159-786B-46AD-9C08-BBB149C94F7B}" type="sibTrans" cxnId="{43A83E84-27C1-4927-ACE4-0B404F115BD7}">
      <dgm:prSet/>
      <dgm:spPr/>
      <dgm:t>
        <a:bodyPr/>
        <a:lstStyle/>
        <a:p>
          <a:endParaRPr lang="en-US"/>
        </a:p>
      </dgm:t>
    </dgm:pt>
    <dgm:pt modelId="{CF7B6FD0-F4A4-4E39-9085-72192BCE682C}" type="pres">
      <dgm:prSet presAssocID="{F18DFB93-A0BE-433B-809C-5A141E1043BD}" presName="linear" presStyleCnt="0">
        <dgm:presLayoutVars>
          <dgm:animLvl val="lvl"/>
          <dgm:resizeHandles val="exact"/>
        </dgm:presLayoutVars>
      </dgm:prSet>
      <dgm:spPr/>
    </dgm:pt>
    <dgm:pt modelId="{C914AF17-C025-4D68-96FD-07BA4ED2A1AA}" type="pres">
      <dgm:prSet presAssocID="{5C3DA5FE-10FA-4BCB-9018-1D6D6519DDD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8F1354F-4D66-4815-A31E-1F42A47D8768}" type="pres">
      <dgm:prSet presAssocID="{096CC1C6-766B-428E-A932-2930F85802CB}" presName="spacer" presStyleCnt="0"/>
      <dgm:spPr/>
    </dgm:pt>
    <dgm:pt modelId="{B506482F-B90F-4973-A960-703BFCCA3438}" type="pres">
      <dgm:prSet presAssocID="{BEE0C076-0E6E-4D87-BB07-ACB49C810C9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376EFD2-5044-400E-87FF-7C3DF1A6BE89}" type="pres">
      <dgm:prSet presAssocID="{E4C5BECD-647D-448B-9EEE-23E002527164}" presName="spacer" presStyleCnt="0"/>
      <dgm:spPr/>
    </dgm:pt>
    <dgm:pt modelId="{708CEAA6-A1F0-4FFA-B88B-64B249BE0C44}" type="pres">
      <dgm:prSet presAssocID="{B267E88E-5646-4E75-A972-A8973611337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DF676ED-35E1-4650-946E-0CB9EAF64BA4}" type="pres">
      <dgm:prSet presAssocID="{9F3CCC9F-0CA6-4B3B-8651-F33A0104E531}" presName="spacer" presStyleCnt="0"/>
      <dgm:spPr/>
    </dgm:pt>
    <dgm:pt modelId="{F318F457-8393-4721-915E-B70AB9714523}" type="pres">
      <dgm:prSet presAssocID="{6079F31E-D8F2-4535-8BBA-E111AF1984E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5C9120C-7ED8-4C07-85E6-FCA28C98D536}" type="pres">
      <dgm:prSet presAssocID="{7829822A-B758-4B86-8216-77D817253D25}" presName="spacer" presStyleCnt="0"/>
      <dgm:spPr/>
    </dgm:pt>
    <dgm:pt modelId="{F1D0866E-EE7E-4F1C-98E5-76A79FE9613A}" type="pres">
      <dgm:prSet presAssocID="{B3E6ABCE-6618-4D7D-B238-5C907E76618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700CB2D-73A4-49F7-AE9C-D327DF0F09C5}" type="pres">
      <dgm:prSet presAssocID="{CB0E52D2-0076-4C1F-BBD8-4A06361A055C}" presName="spacer" presStyleCnt="0"/>
      <dgm:spPr/>
    </dgm:pt>
    <dgm:pt modelId="{17C09A03-6974-4B8F-AAA4-A966AD55973B}" type="pres">
      <dgm:prSet presAssocID="{BF59B1A2-B3E0-4B8D-879D-7C624AF8A68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2EA1B05-2410-4824-9C3F-1012100ADC42}" srcId="{F18DFB93-A0BE-433B-809C-5A141E1043BD}" destId="{5C3DA5FE-10FA-4BCB-9018-1D6D6519DDD4}" srcOrd="0" destOrd="0" parTransId="{5B737DD5-4222-4DF0-BFC9-722D3267F37E}" sibTransId="{096CC1C6-766B-428E-A932-2930F85802CB}"/>
    <dgm:cxn modelId="{71514025-B782-4616-AA8E-711F0F00A100}" type="presOf" srcId="{5C3DA5FE-10FA-4BCB-9018-1D6D6519DDD4}" destId="{C914AF17-C025-4D68-96FD-07BA4ED2A1AA}" srcOrd="0" destOrd="0" presId="urn:microsoft.com/office/officeart/2005/8/layout/vList2"/>
    <dgm:cxn modelId="{5C328228-CD68-46EA-88B8-CE1332FDED03}" srcId="{F18DFB93-A0BE-433B-809C-5A141E1043BD}" destId="{6079F31E-D8F2-4535-8BBA-E111AF1984EE}" srcOrd="3" destOrd="0" parTransId="{F3BE60A1-3DE1-47B7-A3F0-D8C5B18283BA}" sibTransId="{7829822A-B758-4B86-8216-77D817253D25}"/>
    <dgm:cxn modelId="{59E76033-E66C-4B5F-8D65-D2C00ED74EBC}" type="presOf" srcId="{F18DFB93-A0BE-433B-809C-5A141E1043BD}" destId="{CF7B6FD0-F4A4-4E39-9085-72192BCE682C}" srcOrd="0" destOrd="0" presId="urn:microsoft.com/office/officeart/2005/8/layout/vList2"/>
    <dgm:cxn modelId="{EF9C5870-F97A-404E-9D5D-AE3A290CF198}" srcId="{F18DFB93-A0BE-433B-809C-5A141E1043BD}" destId="{BEE0C076-0E6E-4D87-BB07-ACB49C810C9A}" srcOrd="1" destOrd="0" parTransId="{018A9C70-5AF5-4267-AC3D-03288A0E1451}" sibTransId="{E4C5BECD-647D-448B-9EEE-23E002527164}"/>
    <dgm:cxn modelId="{43A83E84-27C1-4927-ACE4-0B404F115BD7}" srcId="{F18DFB93-A0BE-433B-809C-5A141E1043BD}" destId="{BF59B1A2-B3E0-4B8D-879D-7C624AF8A68E}" srcOrd="5" destOrd="0" parTransId="{9F642227-DB76-40ED-B9E7-CFA60A89C45B}" sibTransId="{FD918159-786B-46AD-9C08-BBB149C94F7B}"/>
    <dgm:cxn modelId="{FEFF13A5-8D99-4179-BC04-A3FF1CD642B2}" type="presOf" srcId="{6079F31E-D8F2-4535-8BBA-E111AF1984EE}" destId="{F318F457-8393-4721-915E-B70AB9714523}" srcOrd="0" destOrd="0" presId="urn:microsoft.com/office/officeart/2005/8/layout/vList2"/>
    <dgm:cxn modelId="{BBFA9DB2-8F8B-4241-87AD-AC8725513A22}" srcId="{F18DFB93-A0BE-433B-809C-5A141E1043BD}" destId="{B3E6ABCE-6618-4D7D-B238-5C907E76618D}" srcOrd="4" destOrd="0" parTransId="{E2111020-A923-45B6-A717-389BA4C43E2E}" sibTransId="{CB0E52D2-0076-4C1F-BBD8-4A06361A055C}"/>
    <dgm:cxn modelId="{5B5274C1-D240-4373-A5EE-5EAED9A39910}" type="presOf" srcId="{BEE0C076-0E6E-4D87-BB07-ACB49C810C9A}" destId="{B506482F-B90F-4973-A960-703BFCCA3438}" srcOrd="0" destOrd="0" presId="urn:microsoft.com/office/officeart/2005/8/layout/vList2"/>
    <dgm:cxn modelId="{103FF3DA-BD91-4A6C-B5BE-88DCA3DC7AF4}" srcId="{F18DFB93-A0BE-433B-809C-5A141E1043BD}" destId="{B267E88E-5646-4E75-A972-A89736113373}" srcOrd="2" destOrd="0" parTransId="{8C498F6F-8F73-48F7-B7FA-3EFADDE8DEBA}" sibTransId="{9F3CCC9F-0CA6-4B3B-8651-F33A0104E531}"/>
    <dgm:cxn modelId="{EA4CAEEA-80CC-4168-8953-C1B0697B67F6}" type="presOf" srcId="{BF59B1A2-B3E0-4B8D-879D-7C624AF8A68E}" destId="{17C09A03-6974-4B8F-AAA4-A966AD55973B}" srcOrd="0" destOrd="0" presId="urn:microsoft.com/office/officeart/2005/8/layout/vList2"/>
    <dgm:cxn modelId="{C254EDF2-F2F7-4F86-950B-9B374F8995AA}" type="presOf" srcId="{B3E6ABCE-6618-4D7D-B238-5C907E76618D}" destId="{F1D0866E-EE7E-4F1C-98E5-76A79FE9613A}" srcOrd="0" destOrd="0" presId="urn:microsoft.com/office/officeart/2005/8/layout/vList2"/>
    <dgm:cxn modelId="{F1DE87F7-FB9D-478F-B9A7-502731700213}" type="presOf" srcId="{B267E88E-5646-4E75-A972-A89736113373}" destId="{708CEAA6-A1F0-4FFA-B88B-64B249BE0C44}" srcOrd="0" destOrd="0" presId="urn:microsoft.com/office/officeart/2005/8/layout/vList2"/>
    <dgm:cxn modelId="{53B003FB-FD56-499F-A59A-65BCAC33F72F}" type="presParOf" srcId="{CF7B6FD0-F4A4-4E39-9085-72192BCE682C}" destId="{C914AF17-C025-4D68-96FD-07BA4ED2A1AA}" srcOrd="0" destOrd="0" presId="urn:microsoft.com/office/officeart/2005/8/layout/vList2"/>
    <dgm:cxn modelId="{44BE9526-3CF2-4DA3-94EE-D448B258ABF7}" type="presParOf" srcId="{CF7B6FD0-F4A4-4E39-9085-72192BCE682C}" destId="{D8F1354F-4D66-4815-A31E-1F42A47D8768}" srcOrd="1" destOrd="0" presId="urn:microsoft.com/office/officeart/2005/8/layout/vList2"/>
    <dgm:cxn modelId="{421FA293-56E0-4644-9925-12365873226B}" type="presParOf" srcId="{CF7B6FD0-F4A4-4E39-9085-72192BCE682C}" destId="{B506482F-B90F-4973-A960-703BFCCA3438}" srcOrd="2" destOrd="0" presId="urn:microsoft.com/office/officeart/2005/8/layout/vList2"/>
    <dgm:cxn modelId="{D887896F-F25B-4AFA-91A3-15BB35B68EFF}" type="presParOf" srcId="{CF7B6FD0-F4A4-4E39-9085-72192BCE682C}" destId="{0376EFD2-5044-400E-87FF-7C3DF1A6BE89}" srcOrd="3" destOrd="0" presId="urn:microsoft.com/office/officeart/2005/8/layout/vList2"/>
    <dgm:cxn modelId="{049603B7-02E5-4013-B841-5F4EDF921024}" type="presParOf" srcId="{CF7B6FD0-F4A4-4E39-9085-72192BCE682C}" destId="{708CEAA6-A1F0-4FFA-B88B-64B249BE0C44}" srcOrd="4" destOrd="0" presId="urn:microsoft.com/office/officeart/2005/8/layout/vList2"/>
    <dgm:cxn modelId="{281CF403-A01A-457B-8BB3-A627D8FA181D}" type="presParOf" srcId="{CF7B6FD0-F4A4-4E39-9085-72192BCE682C}" destId="{7DF676ED-35E1-4650-946E-0CB9EAF64BA4}" srcOrd="5" destOrd="0" presId="urn:microsoft.com/office/officeart/2005/8/layout/vList2"/>
    <dgm:cxn modelId="{7B49E291-A1EA-4D9A-98C2-8B888B4F7282}" type="presParOf" srcId="{CF7B6FD0-F4A4-4E39-9085-72192BCE682C}" destId="{F318F457-8393-4721-915E-B70AB9714523}" srcOrd="6" destOrd="0" presId="urn:microsoft.com/office/officeart/2005/8/layout/vList2"/>
    <dgm:cxn modelId="{4E863233-8C94-4083-BACD-C97C30CDD63E}" type="presParOf" srcId="{CF7B6FD0-F4A4-4E39-9085-72192BCE682C}" destId="{05C9120C-7ED8-4C07-85E6-FCA28C98D536}" srcOrd="7" destOrd="0" presId="urn:microsoft.com/office/officeart/2005/8/layout/vList2"/>
    <dgm:cxn modelId="{0F64B980-430D-4A08-8C2E-87DAB526F451}" type="presParOf" srcId="{CF7B6FD0-F4A4-4E39-9085-72192BCE682C}" destId="{F1D0866E-EE7E-4F1C-98E5-76A79FE9613A}" srcOrd="8" destOrd="0" presId="urn:microsoft.com/office/officeart/2005/8/layout/vList2"/>
    <dgm:cxn modelId="{1AF87D23-57CD-4CA2-B511-C6B46F4BA45D}" type="presParOf" srcId="{CF7B6FD0-F4A4-4E39-9085-72192BCE682C}" destId="{4700CB2D-73A4-49F7-AE9C-D327DF0F09C5}" srcOrd="9" destOrd="0" presId="urn:microsoft.com/office/officeart/2005/8/layout/vList2"/>
    <dgm:cxn modelId="{60695EB6-9EF9-4016-BF44-C3F011018747}" type="presParOf" srcId="{CF7B6FD0-F4A4-4E39-9085-72192BCE682C}" destId="{17C09A03-6974-4B8F-AAA4-A966AD55973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4AF17-C025-4D68-96FD-07BA4ED2A1AA}">
      <dsp:nvSpPr>
        <dsp:cNvPr id="0" name=""/>
        <dsp:cNvSpPr/>
      </dsp:nvSpPr>
      <dsp:spPr>
        <a:xfrm>
          <a:off x="0" y="53184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900" kern="1200" dirty="0"/>
            <a:t>معرفی </a:t>
          </a:r>
          <a:r>
            <a:rPr lang="en-US" sz="1900" kern="1200" dirty="0"/>
            <a:t>Shape Data</a:t>
          </a:r>
          <a:r>
            <a:rPr lang="ps-AF" sz="1900" kern="1200" dirty="0"/>
            <a:t> </a:t>
          </a:r>
          <a:r>
            <a:rPr lang="fa-IR" sz="1900" kern="1200" dirty="0"/>
            <a:t>در </a:t>
          </a:r>
          <a:r>
            <a:rPr lang="en-US" sz="1900" kern="1200" dirty="0"/>
            <a:t>Visio</a:t>
          </a:r>
        </a:p>
      </dsp:txBody>
      <dsp:txXfrm>
        <a:off x="36150" y="89334"/>
        <a:ext cx="6620513" cy="668236"/>
      </dsp:txXfrm>
    </dsp:sp>
    <dsp:sp modelId="{B506482F-B90F-4973-A960-703BFCCA3438}">
      <dsp:nvSpPr>
        <dsp:cNvPr id="0" name=""/>
        <dsp:cNvSpPr/>
      </dsp:nvSpPr>
      <dsp:spPr>
        <a:xfrm>
          <a:off x="0" y="848441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-542490"/>
                <a:satOff val="-331"/>
                <a:lumOff val="1294"/>
                <a:alphaOff val="0"/>
                <a:tint val="96000"/>
                <a:lumMod val="100000"/>
              </a:schemeClr>
            </a:gs>
            <a:gs pos="78000">
              <a:schemeClr val="accent2">
                <a:hueOff val="-542490"/>
                <a:satOff val="-331"/>
                <a:lumOff val="129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900" kern="1200" dirty="0"/>
            <a:t>لینک‌سازی دیتا از </a:t>
          </a:r>
          <a:r>
            <a:rPr lang="en-US" sz="1900" kern="1200" dirty="0"/>
            <a:t>Excel</a:t>
          </a:r>
          <a:r>
            <a:rPr lang="prs-AF" sz="1900" kern="1200" dirty="0"/>
            <a:t> </a:t>
          </a:r>
          <a:r>
            <a:rPr lang="en-US" sz="1900" kern="1200" dirty="0"/>
            <a:t> </a:t>
          </a:r>
          <a:r>
            <a:rPr lang="fa-IR" sz="1900" kern="1200" dirty="0"/>
            <a:t>به </a:t>
          </a:r>
          <a:r>
            <a:rPr lang="en-US" sz="1900" kern="1200" dirty="0"/>
            <a:t>Visio</a:t>
          </a:r>
        </a:p>
      </dsp:txBody>
      <dsp:txXfrm>
        <a:off x="36150" y="884591"/>
        <a:ext cx="6620513" cy="668236"/>
      </dsp:txXfrm>
    </dsp:sp>
    <dsp:sp modelId="{708CEAA6-A1F0-4FFA-B88B-64B249BE0C44}">
      <dsp:nvSpPr>
        <dsp:cNvPr id="0" name=""/>
        <dsp:cNvSpPr/>
      </dsp:nvSpPr>
      <dsp:spPr>
        <a:xfrm>
          <a:off x="0" y="1643698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-1084980"/>
                <a:satOff val="-662"/>
                <a:lumOff val="2588"/>
                <a:alphaOff val="0"/>
                <a:tint val="96000"/>
                <a:lumMod val="100000"/>
              </a:schemeClr>
            </a:gs>
            <a:gs pos="78000">
              <a:schemeClr val="accent2">
                <a:hueOff val="-1084980"/>
                <a:satOff val="-662"/>
                <a:lumOff val="258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900" kern="1200" dirty="0"/>
            <a:t>معرفی </a:t>
          </a:r>
          <a:r>
            <a:rPr lang="en-US" sz="1900" kern="1200" dirty="0"/>
            <a:t>Data Graphics</a:t>
          </a:r>
          <a:r>
            <a:rPr lang="ps-AF" sz="1900" kern="1200" dirty="0"/>
            <a:t> </a:t>
          </a:r>
          <a:r>
            <a:rPr lang="en-US" sz="1900" kern="1200" dirty="0"/>
            <a:t> </a:t>
          </a:r>
          <a:r>
            <a:rPr lang="fa-IR" sz="1900" kern="1200" dirty="0"/>
            <a:t>در </a:t>
          </a:r>
          <a:r>
            <a:rPr lang="en-US" sz="1900" kern="1200" dirty="0"/>
            <a:t>Visio</a:t>
          </a:r>
        </a:p>
      </dsp:txBody>
      <dsp:txXfrm>
        <a:off x="36150" y="1679848"/>
        <a:ext cx="6620513" cy="668236"/>
      </dsp:txXfrm>
    </dsp:sp>
    <dsp:sp modelId="{F318F457-8393-4721-915E-B70AB9714523}">
      <dsp:nvSpPr>
        <dsp:cNvPr id="0" name=""/>
        <dsp:cNvSpPr/>
      </dsp:nvSpPr>
      <dsp:spPr>
        <a:xfrm>
          <a:off x="0" y="2438955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-1627470"/>
                <a:satOff val="-994"/>
                <a:lumOff val="3883"/>
                <a:alphaOff val="0"/>
                <a:tint val="96000"/>
                <a:lumMod val="100000"/>
              </a:schemeClr>
            </a:gs>
            <a:gs pos="78000">
              <a:schemeClr val="accent2">
                <a:hueOff val="-1627470"/>
                <a:satOff val="-994"/>
                <a:lumOff val="388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900" kern="1200" dirty="0"/>
            <a:t>فرمت‌گذاری شرطی (</a:t>
          </a:r>
          <a:r>
            <a:rPr lang="en-US" sz="1900" kern="1200" dirty="0"/>
            <a:t>Conditional Formatting</a:t>
          </a:r>
          <a:r>
            <a:rPr lang="ps-AF" sz="1900" kern="1200" dirty="0"/>
            <a:t>) </a:t>
          </a:r>
          <a:r>
            <a:rPr lang="en-US" sz="1900" kern="1200" dirty="0"/>
            <a:t> </a:t>
          </a:r>
          <a:r>
            <a:rPr lang="fa-IR" sz="1900" kern="1200" dirty="0"/>
            <a:t>در </a:t>
          </a:r>
          <a:r>
            <a:rPr lang="en-US" sz="1900" kern="1200" dirty="0"/>
            <a:t>Data Graphics</a:t>
          </a:r>
        </a:p>
      </dsp:txBody>
      <dsp:txXfrm>
        <a:off x="36150" y="2475105"/>
        <a:ext cx="6620513" cy="668236"/>
      </dsp:txXfrm>
    </dsp:sp>
    <dsp:sp modelId="{F1D0866E-EE7E-4F1C-98E5-76A79FE9613A}">
      <dsp:nvSpPr>
        <dsp:cNvPr id="0" name=""/>
        <dsp:cNvSpPr/>
      </dsp:nvSpPr>
      <dsp:spPr>
        <a:xfrm>
          <a:off x="0" y="3234211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-2169960"/>
                <a:satOff val="-1325"/>
                <a:lumOff val="5177"/>
                <a:alphaOff val="0"/>
                <a:tint val="96000"/>
                <a:lumMod val="100000"/>
              </a:schemeClr>
            </a:gs>
            <a:gs pos="78000">
              <a:schemeClr val="accent2">
                <a:hueOff val="-2169960"/>
                <a:satOff val="-1325"/>
                <a:lumOff val="51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s-AF" sz="1900" kern="1200" dirty="0"/>
            <a:t>کار عملی </a:t>
          </a:r>
          <a:endParaRPr lang="en-US" sz="1900" kern="1200" dirty="0"/>
        </a:p>
      </dsp:txBody>
      <dsp:txXfrm>
        <a:off x="36150" y="3270361"/>
        <a:ext cx="6620513" cy="668236"/>
      </dsp:txXfrm>
    </dsp:sp>
    <dsp:sp modelId="{17C09A03-6974-4B8F-AAA4-A966AD55973B}">
      <dsp:nvSpPr>
        <dsp:cNvPr id="0" name=""/>
        <dsp:cNvSpPr/>
      </dsp:nvSpPr>
      <dsp:spPr>
        <a:xfrm>
          <a:off x="0" y="4029468"/>
          <a:ext cx="6692813" cy="740536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900" kern="1200" dirty="0"/>
            <a:t>پرسش و پاسخ</a:t>
          </a:r>
          <a:endParaRPr lang="en-US" sz="1900" kern="1200" dirty="0"/>
        </a:p>
      </dsp:txBody>
      <dsp:txXfrm>
        <a:off x="36150" y="4065618"/>
        <a:ext cx="6620513" cy="6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1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8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992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46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7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2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5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88E37-BF69-4CAF-96A1-1C16A9D83FA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5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7D13-2511-8840-07F8-462B6BC74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990" y="1793584"/>
            <a:ext cx="8707946" cy="1646302"/>
          </a:xfrm>
        </p:spPr>
        <p:txBody>
          <a:bodyPr/>
          <a:lstStyle/>
          <a:p>
            <a:br>
              <a:rPr lang="en-US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آموزش</a:t>
            </a:r>
            <a:r>
              <a:rPr lang="p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برنامه</a:t>
            </a: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مایکروسافت ویزیو</a:t>
            </a:r>
            <a:endParaRPr lang="en-US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69445-F72A-0881-3CFB-90EA396BA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26290"/>
            <a:ext cx="7766936" cy="2230224"/>
          </a:xfrm>
        </p:spPr>
        <p:txBody>
          <a:bodyPr>
            <a:normAutofit/>
          </a:bodyPr>
          <a:lstStyle/>
          <a:p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راهنمای کاربردی برای طراحی 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دیا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گرام ها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و فلوچارت‌ها</a:t>
            </a:r>
            <a:b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br>
              <a:rPr lang="pr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endParaRPr lang="prs-AF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pPr>
              <a:lnSpc>
                <a:spcPct val="160000"/>
              </a:lnSpc>
            </a:pP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تاریخ: 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۶-۹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اگست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۲۰۲۵</a:t>
            </a:r>
            <a:b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ارائه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‌دهنده: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احمد میلاد کاک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ړ</a:t>
            </a:r>
            <a:endParaRPr lang="fa-IR" sz="2000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endParaRPr lang="en-US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78EEC219-9264-64AA-0246-B04599FF3B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95" y="696685"/>
            <a:ext cx="2136776" cy="1295401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195AA7B5-7AB9-DE49-FAAA-E131CE6C427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1197429"/>
            <a:ext cx="2577419" cy="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E5ED-F223-1E6F-C4C8-65533922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55" y="2068286"/>
            <a:ext cx="8288032" cy="177437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s-AF" sz="96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روز ۴</a:t>
            </a:r>
            <a:endParaRPr lang="en-US" sz="9600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622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1266CF-7F5A-A203-3EFA-B3AC2C5A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pPr rtl="1"/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اجندای روز </a:t>
            </a:r>
            <a:r>
              <a:rPr lang="ps-AF" sz="4400" dirty="0">
                <a:solidFill>
                  <a:schemeClr val="accent1">
                    <a:lumMod val="75000"/>
                  </a:schemeClr>
                </a:solidFill>
              </a:rPr>
              <a:t>چهارم</a:t>
            </a: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برنامه آموزشی</a:t>
            </a:r>
            <a:br>
              <a:rPr lang="ps-AF" sz="4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Microsoft Visio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6A07A9-6BD2-172F-0CFE-463D01EE5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010111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29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5182CB-49B3-4BFD-B09A-7E1C856D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2047"/>
            <a:ext cx="8596312" cy="708212"/>
          </a:xfrm>
        </p:spPr>
        <p:txBody>
          <a:bodyPr/>
          <a:lstStyle/>
          <a:p>
            <a:pPr algn="ctr" eaLnBrk="1" hangingPunct="1"/>
            <a:r>
              <a:rPr lang="fa-IR" b="1" dirty="0"/>
              <a:t>مقررات آموزش</a:t>
            </a:r>
            <a:endParaRPr lang="en-US" b="1" dirty="0"/>
          </a:p>
        </p:txBody>
      </p:sp>
      <p:grpSp>
        <p:nvGrpSpPr>
          <p:cNvPr id="7" name="Group 142">
            <a:extLst>
              <a:ext uri="{FF2B5EF4-FFF2-40B4-BE49-F238E27FC236}">
                <a16:creationId xmlns:a16="http://schemas.microsoft.com/office/drawing/2014/main" id="{984A9C4A-FDCF-47AC-BBBC-A91F282AE252}"/>
              </a:ext>
            </a:extLst>
          </p:cNvPr>
          <p:cNvGrpSpPr/>
          <p:nvPr/>
        </p:nvGrpSpPr>
        <p:grpSpPr bwMode="auto">
          <a:xfrm>
            <a:off x="7294468" y="3848393"/>
            <a:ext cx="1561763" cy="1389025"/>
            <a:chOff x="7313613" y="1139825"/>
            <a:chExt cx="1036" cy="1486"/>
          </a:xfrm>
        </p:grpSpPr>
        <p:pic>
          <p:nvPicPr>
            <p:cNvPr id="8" name="Picture 7" descr="ALW00086">
              <a:extLst>
                <a:ext uri="{FF2B5EF4-FFF2-40B4-BE49-F238E27FC236}">
                  <a16:creationId xmlns:a16="http://schemas.microsoft.com/office/drawing/2014/main" id="{A471AE00-0853-4226-A6C6-14B743964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3613" y="1139825"/>
              <a:ext cx="1036" cy="14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2EB95A8B-1F72-4D49-A6D4-168337A43909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4010" y="1140528"/>
              <a:ext cx="361" cy="676"/>
            </a:xfrm>
            <a:custGeom>
              <a:avLst/>
              <a:gdLst>
                <a:gd name="T0" fmla="*/ 2 w 769"/>
                <a:gd name="T1" fmla="*/ 183 h 951"/>
                <a:gd name="T2" fmla="*/ 5 w 769"/>
                <a:gd name="T3" fmla="*/ 156 h 951"/>
                <a:gd name="T4" fmla="*/ 8 w 769"/>
                <a:gd name="T5" fmla="*/ 130 h 951"/>
                <a:gd name="T6" fmla="*/ 11 w 769"/>
                <a:gd name="T7" fmla="*/ 108 h 951"/>
                <a:gd name="T8" fmla="*/ 15 w 769"/>
                <a:gd name="T9" fmla="*/ 87 h 951"/>
                <a:gd name="T10" fmla="*/ 18 w 769"/>
                <a:gd name="T11" fmla="*/ 70 h 951"/>
                <a:gd name="T12" fmla="*/ 21 w 769"/>
                <a:gd name="T13" fmla="*/ 54 h 951"/>
                <a:gd name="T14" fmla="*/ 23 w 769"/>
                <a:gd name="T15" fmla="*/ 41 h 951"/>
                <a:gd name="T16" fmla="*/ 26 w 769"/>
                <a:gd name="T17" fmla="*/ 29 h 951"/>
                <a:gd name="T18" fmla="*/ 28 w 769"/>
                <a:gd name="T19" fmla="*/ 21 h 951"/>
                <a:gd name="T20" fmla="*/ 30 w 769"/>
                <a:gd name="T21" fmla="*/ 14 h 951"/>
                <a:gd name="T22" fmla="*/ 31 w 769"/>
                <a:gd name="T23" fmla="*/ 9 h 951"/>
                <a:gd name="T24" fmla="*/ 32 w 769"/>
                <a:gd name="T25" fmla="*/ 6 h 951"/>
                <a:gd name="T26" fmla="*/ 34 w 769"/>
                <a:gd name="T27" fmla="*/ 3 h 951"/>
                <a:gd name="T28" fmla="*/ 35 w 769"/>
                <a:gd name="T29" fmla="*/ 1 h 951"/>
                <a:gd name="T30" fmla="*/ 36 w 769"/>
                <a:gd name="T31" fmla="*/ 0 h 951"/>
                <a:gd name="T32" fmla="*/ 36 w 769"/>
                <a:gd name="T33" fmla="*/ 0 h 951"/>
                <a:gd name="T34" fmla="*/ 37 w 769"/>
                <a:gd name="T35" fmla="*/ 1 h 951"/>
                <a:gd name="T36" fmla="*/ 37 w 769"/>
                <a:gd name="T37" fmla="*/ 1 h 951"/>
                <a:gd name="T38" fmla="*/ 37 w 769"/>
                <a:gd name="T39" fmla="*/ 3 h 951"/>
                <a:gd name="T40" fmla="*/ 37 w 769"/>
                <a:gd name="T41" fmla="*/ 6 h 951"/>
                <a:gd name="T42" fmla="*/ 37 w 769"/>
                <a:gd name="T43" fmla="*/ 8 h 951"/>
                <a:gd name="T44" fmla="*/ 37 w 769"/>
                <a:gd name="T45" fmla="*/ 11 h 951"/>
                <a:gd name="T46" fmla="*/ 37 w 769"/>
                <a:gd name="T47" fmla="*/ 12 h 951"/>
                <a:gd name="T48" fmla="*/ 37 w 769"/>
                <a:gd name="T49" fmla="*/ 14 h 951"/>
                <a:gd name="T50" fmla="*/ 36 w 769"/>
                <a:gd name="T51" fmla="*/ 16 h 951"/>
                <a:gd name="T52" fmla="*/ 36 w 769"/>
                <a:gd name="T53" fmla="*/ 16 h 951"/>
                <a:gd name="T54" fmla="*/ 35 w 769"/>
                <a:gd name="T55" fmla="*/ 18 h 951"/>
                <a:gd name="T56" fmla="*/ 35 w 769"/>
                <a:gd name="T57" fmla="*/ 18 h 951"/>
                <a:gd name="T58" fmla="*/ 35 w 769"/>
                <a:gd name="T59" fmla="*/ 19 h 951"/>
                <a:gd name="T60" fmla="*/ 35 w 769"/>
                <a:gd name="T61" fmla="*/ 19 h 951"/>
                <a:gd name="T62" fmla="*/ 31 w 769"/>
                <a:gd name="T63" fmla="*/ 31 h 951"/>
                <a:gd name="T64" fmla="*/ 28 w 769"/>
                <a:gd name="T65" fmla="*/ 48 h 951"/>
                <a:gd name="T66" fmla="*/ 24 w 769"/>
                <a:gd name="T67" fmla="*/ 68 h 951"/>
                <a:gd name="T68" fmla="*/ 21 w 769"/>
                <a:gd name="T69" fmla="*/ 92 h 951"/>
                <a:gd name="T70" fmla="*/ 18 w 769"/>
                <a:gd name="T71" fmla="*/ 116 h 951"/>
                <a:gd name="T72" fmla="*/ 15 w 769"/>
                <a:gd name="T73" fmla="*/ 141 h 951"/>
                <a:gd name="T74" fmla="*/ 13 w 769"/>
                <a:gd name="T75" fmla="*/ 165 h 951"/>
                <a:gd name="T76" fmla="*/ 11 w 769"/>
                <a:gd name="T77" fmla="*/ 186 h 951"/>
                <a:gd name="T78" fmla="*/ 9 w 769"/>
                <a:gd name="T79" fmla="*/ 205 h 951"/>
                <a:gd name="T80" fmla="*/ 8 w 769"/>
                <a:gd name="T81" fmla="*/ 220 h 951"/>
                <a:gd name="T82" fmla="*/ 7 w 769"/>
                <a:gd name="T83" fmla="*/ 229 h 951"/>
                <a:gd name="T84" fmla="*/ 7 w 769"/>
                <a:gd name="T85" fmla="*/ 235 h 951"/>
                <a:gd name="T86" fmla="*/ 6 w 769"/>
                <a:gd name="T87" fmla="*/ 240 h 951"/>
                <a:gd name="T88" fmla="*/ 5 w 769"/>
                <a:gd name="T89" fmla="*/ 242 h 951"/>
                <a:gd name="T90" fmla="*/ 4 w 769"/>
                <a:gd name="T91" fmla="*/ 243 h 951"/>
                <a:gd name="T92" fmla="*/ 3 w 769"/>
                <a:gd name="T93" fmla="*/ 242 h 951"/>
                <a:gd name="T94" fmla="*/ 2 w 769"/>
                <a:gd name="T95" fmla="*/ 241 h 951"/>
                <a:gd name="T96" fmla="*/ 2 w 769"/>
                <a:gd name="T97" fmla="*/ 240 h 951"/>
                <a:gd name="T98" fmla="*/ 1 w 769"/>
                <a:gd name="T99" fmla="*/ 239 h 951"/>
                <a:gd name="T100" fmla="*/ 1 w 769"/>
                <a:gd name="T101" fmla="*/ 238 h 951"/>
                <a:gd name="T102" fmla="*/ 1 w 769"/>
                <a:gd name="T103" fmla="*/ 238 h 951"/>
                <a:gd name="T104" fmla="*/ 1 w 769"/>
                <a:gd name="T105" fmla="*/ 237 h 951"/>
                <a:gd name="T106" fmla="*/ 0 w 769"/>
                <a:gd name="T107" fmla="*/ 235 h 951"/>
                <a:gd name="T108" fmla="*/ 0 w 769"/>
                <a:gd name="T109" fmla="*/ 232 h 951"/>
                <a:gd name="T110" fmla="*/ 0 w 769"/>
                <a:gd name="T111" fmla="*/ 227 h 951"/>
                <a:gd name="T112" fmla="*/ 0 w 769"/>
                <a:gd name="T113" fmla="*/ 222 h 951"/>
                <a:gd name="T114" fmla="*/ 0 w 769"/>
                <a:gd name="T115" fmla="*/ 215 h 951"/>
                <a:gd name="T116" fmla="*/ 0 w 769"/>
                <a:gd name="T117" fmla="*/ 205 h 951"/>
                <a:gd name="T118" fmla="*/ 1 w 769"/>
                <a:gd name="T119" fmla="*/ 195 h 951"/>
                <a:gd name="T120" fmla="*/ 2 w 769"/>
                <a:gd name="T121" fmla="*/ 183 h 951"/>
                <a:gd name="T122" fmla="*/ 2 w 769"/>
                <a:gd name="T123" fmla="*/ 183 h 951"/>
                <a:gd name="T124" fmla="*/ 2 w 769"/>
                <a:gd name="T125" fmla="*/ 183 h 9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769"/>
                <a:gd name="T190" fmla="*/ 0 h 951"/>
                <a:gd name="T191" fmla="*/ 769 w 769"/>
                <a:gd name="T192" fmla="*/ 951 h 95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769" h="951">
                  <a:moveTo>
                    <a:pt x="41" y="715"/>
                  </a:moveTo>
                  <a:lnTo>
                    <a:pt x="103" y="610"/>
                  </a:lnTo>
                  <a:lnTo>
                    <a:pt x="169" y="511"/>
                  </a:lnTo>
                  <a:lnTo>
                    <a:pt x="233" y="423"/>
                  </a:lnTo>
                  <a:lnTo>
                    <a:pt x="299" y="343"/>
                  </a:lnTo>
                  <a:lnTo>
                    <a:pt x="362" y="273"/>
                  </a:lnTo>
                  <a:lnTo>
                    <a:pt x="424" y="211"/>
                  </a:lnTo>
                  <a:lnTo>
                    <a:pt x="480" y="157"/>
                  </a:lnTo>
                  <a:lnTo>
                    <a:pt x="532" y="114"/>
                  </a:lnTo>
                  <a:lnTo>
                    <a:pt x="577" y="80"/>
                  </a:lnTo>
                  <a:lnTo>
                    <a:pt x="614" y="55"/>
                  </a:lnTo>
                  <a:lnTo>
                    <a:pt x="644" y="37"/>
                  </a:lnTo>
                  <a:lnTo>
                    <a:pt x="671" y="23"/>
                  </a:lnTo>
                  <a:lnTo>
                    <a:pt x="693" y="13"/>
                  </a:lnTo>
                  <a:lnTo>
                    <a:pt x="713" y="4"/>
                  </a:lnTo>
                  <a:lnTo>
                    <a:pt x="729" y="0"/>
                  </a:lnTo>
                  <a:lnTo>
                    <a:pt x="743" y="0"/>
                  </a:lnTo>
                  <a:lnTo>
                    <a:pt x="752" y="2"/>
                  </a:lnTo>
                  <a:lnTo>
                    <a:pt x="761" y="6"/>
                  </a:lnTo>
                  <a:lnTo>
                    <a:pt x="765" y="13"/>
                  </a:lnTo>
                  <a:lnTo>
                    <a:pt x="769" y="21"/>
                  </a:lnTo>
                  <a:lnTo>
                    <a:pt x="769" y="31"/>
                  </a:lnTo>
                  <a:lnTo>
                    <a:pt x="765" y="41"/>
                  </a:lnTo>
                  <a:lnTo>
                    <a:pt x="759" y="48"/>
                  </a:lnTo>
                  <a:lnTo>
                    <a:pt x="752" y="55"/>
                  </a:lnTo>
                  <a:lnTo>
                    <a:pt x="744" y="62"/>
                  </a:lnTo>
                  <a:lnTo>
                    <a:pt x="736" y="66"/>
                  </a:lnTo>
                  <a:lnTo>
                    <a:pt x="727" y="70"/>
                  </a:lnTo>
                  <a:lnTo>
                    <a:pt x="722" y="73"/>
                  </a:lnTo>
                  <a:lnTo>
                    <a:pt x="716" y="75"/>
                  </a:lnTo>
                  <a:lnTo>
                    <a:pt x="715" y="76"/>
                  </a:lnTo>
                  <a:lnTo>
                    <a:pt x="639" y="121"/>
                  </a:lnTo>
                  <a:lnTo>
                    <a:pt x="566" y="187"/>
                  </a:lnTo>
                  <a:lnTo>
                    <a:pt x="496" y="267"/>
                  </a:lnTo>
                  <a:lnTo>
                    <a:pt x="430" y="358"/>
                  </a:lnTo>
                  <a:lnTo>
                    <a:pt x="369" y="454"/>
                  </a:lnTo>
                  <a:lnTo>
                    <a:pt x="313" y="552"/>
                  </a:lnTo>
                  <a:lnTo>
                    <a:pt x="265" y="645"/>
                  </a:lnTo>
                  <a:lnTo>
                    <a:pt x="225" y="730"/>
                  </a:lnTo>
                  <a:lnTo>
                    <a:pt x="193" y="803"/>
                  </a:lnTo>
                  <a:lnTo>
                    <a:pt x="169" y="858"/>
                  </a:lnTo>
                  <a:lnTo>
                    <a:pt x="150" y="896"/>
                  </a:lnTo>
                  <a:lnTo>
                    <a:pt x="131" y="923"/>
                  </a:lnTo>
                  <a:lnTo>
                    <a:pt x="113" y="940"/>
                  </a:lnTo>
                  <a:lnTo>
                    <a:pt x="93" y="948"/>
                  </a:lnTo>
                  <a:lnTo>
                    <a:pt x="76" y="951"/>
                  </a:lnTo>
                  <a:lnTo>
                    <a:pt x="61" y="948"/>
                  </a:lnTo>
                  <a:lnTo>
                    <a:pt x="47" y="944"/>
                  </a:lnTo>
                  <a:lnTo>
                    <a:pt x="37" y="938"/>
                  </a:lnTo>
                  <a:lnTo>
                    <a:pt x="30" y="934"/>
                  </a:lnTo>
                  <a:lnTo>
                    <a:pt x="28" y="931"/>
                  </a:lnTo>
                  <a:lnTo>
                    <a:pt x="26" y="931"/>
                  </a:lnTo>
                  <a:lnTo>
                    <a:pt x="21" y="927"/>
                  </a:lnTo>
                  <a:lnTo>
                    <a:pt x="14" y="918"/>
                  </a:lnTo>
                  <a:lnTo>
                    <a:pt x="9" y="907"/>
                  </a:lnTo>
                  <a:lnTo>
                    <a:pt x="3" y="890"/>
                  </a:lnTo>
                  <a:lnTo>
                    <a:pt x="0" y="869"/>
                  </a:lnTo>
                  <a:lnTo>
                    <a:pt x="2" y="841"/>
                  </a:lnTo>
                  <a:lnTo>
                    <a:pt x="7" y="806"/>
                  </a:lnTo>
                  <a:lnTo>
                    <a:pt x="20" y="765"/>
                  </a:lnTo>
                  <a:lnTo>
                    <a:pt x="41" y="716"/>
                  </a:lnTo>
                  <a:lnTo>
                    <a:pt x="41" y="715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4F0A20A-B68E-49F7-9589-1E58BC5E791A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3947" y="1140501"/>
              <a:ext cx="441" cy="701"/>
            </a:xfrm>
            <a:custGeom>
              <a:avLst/>
              <a:gdLst>
                <a:gd name="T0" fmla="*/ 21 w 825"/>
                <a:gd name="T1" fmla="*/ 14 h 1222"/>
                <a:gd name="T2" fmla="*/ 29 w 825"/>
                <a:gd name="T3" fmla="*/ 26 h 1222"/>
                <a:gd name="T4" fmla="*/ 36 w 825"/>
                <a:gd name="T5" fmla="*/ 38 h 1222"/>
                <a:gd name="T6" fmla="*/ 42 w 825"/>
                <a:gd name="T7" fmla="*/ 50 h 1222"/>
                <a:gd name="T8" fmla="*/ 48 w 825"/>
                <a:gd name="T9" fmla="*/ 62 h 1222"/>
                <a:gd name="T10" fmla="*/ 52 w 825"/>
                <a:gd name="T11" fmla="*/ 72 h 1222"/>
                <a:gd name="T12" fmla="*/ 56 w 825"/>
                <a:gd name="T13" fmla="*/ 83 h 1222"/>
                <a:gd name="T14" fmla="*/ 59 w 825"/>
                <a:gd name="T15" fmla="*/ 92 h 1222"/>
                <a:gd name="T16" fmla="*/ 62 w 825"/>
                <a:gd name="T17" fmla="*/ 100 h 1222"/>
                <a:gd name="T18" fmla="*/ 64 w 825"/>
                <a:gd name="T19" fmla="*/ 107 h 1222"/>
                <a:gd name="T20" fmla="*/ 65 w 825"/>
                <a:gd name="T21" fmla="*/ 112 h 1222"/>
                <a:gd name="T22" fmla="*/ 66 w 825"/>
                <a:gd name="T23" fmla="*/ 117 h 1222"/>
                <a:gd name="T24" fmla="*/ 67 w 825"/>
                <a:gd name="T25" fmla="*/ 121 h 1222"/>
                <a:gd name="T26" fmla="*/ 67 w 825"/>
                <a:gd name="T27" fmla="*/ 124 h 1222"/>
                <a:gd name="T28" fmla="*/ 67 w 825"/>
                <a:gd name="T29" fmla="*/ 127 h 1222"/>
                <a:gd name="T30" fmla="*/ 67 w 825"/>
                <a:gd name="T31" fmla="*/ 128 h 1222"/>
                <a:gd name="T32" fmla="*/ 67 w 825"/>
                <a:gd name="T33" fmla="*/ 130 h 1222"/>
                <a:gd name="T34" fmla="*/ 67 w 825"/>
                <a:gd name="T35" fmla="*/ 131 h 1222"/>
                <a:gd name="T36" fmla="*/ 66 w 825"/>
                <a:gd name="T37" fmla="*/ 133 h 1222"/>
                <a:gd name="T38" fmla="*/ 65 w 825"/>
                <a:gd name="T39" fmla="*/ 133 h 1222"/>
                <a:gd name="T40" fmla="*/ 65 w 825"/>
                <a:gd name="T41" fmla="*/ 133 h 1222"/>
                <a:gd name="T42" fmla="*/ 64 w 825"/>
                <a:gd name="T43" fmla="*/ 132 h 1222"/>
                <a:gd name="T44" fmla="*/ 63 w 825"/>
                <a:gd name="T45" fmla="*/ 131 h 1222"/>
                <a:gd name="T46" fmla="*/ 63 w 825"/>
                <a:gd name="T47" fmla="*/ 130 h 1222"/>
                <a:gd name="T48" fmla="*/ 63 w 825"/>
                <a:gd name="T49" fmla="*/ 129 h 1222"/>
                <a:gd name="T50" fmla="*/ 61 w 825"/>
                <a:gd name="T51" fmla="*/ 127 h 1222"/>
                <a:gd name="T52" fmla="*/ 61 w 825"/>
                <a:gd name="T53" fmla="*/ 126 h 1222"/>
                <a:gd name="T54" fmla="*/ 61 w 825"/>
                <a:gd name="T55" fmla="*/ 125 h 1222"/>
                <a:gd name="T56" fmla="*/ 61 w 825"/>
                <a:gd name="T57" fmla="*/ 124 h 1222"/>
                <a:gd name="T58" fmla="*/ 61 w 825"/>
                <a:gd name="T59" fmla="*/ 124 h 1222"/>
                <a:gd name="T60" fmla="*/ 61 w 825"/>
                <a:gd name="T61" fmla="*/ 123 h 1222"/>
                <a:gd name="T62" fmla="*/ 59 w 825"/>
                <a:gd name="T63" fmla="*/ 112 h 1222"/>
                <a:gd name="T64" fmla="*/ 55 w 825"/>
                <a:gd name="T65" fmla="*/ 101 h 1222"/>
                <a:gd name="T66" fmla="*/ 50 w 825"/>
                <a:gd name="T67" fmla="*/ 88 h 1222"/>
                <a:gd name="T68" fmla="*/ 43 w 825"/>
                <a:gd name="T69" fmla="*/ 76 h 1222"/>
                <a:gd name="T70" fmla="*/ 36 w 825"/>
                <a:gd name="T71" fmla="*/ 64 h 1222"/>
                <a:gd name="T72" fmla="*/ 29 w 825"/>
                <a:gd name="T73" fmla="*/ 53 h 1222"/>
                <a:gd name="T74" fmla="*/ 22 w 825"/>
                <a:gd name="T75" fmla="*/ 43 h 1222"/>
                <a:gd name="T76" fmla="*/ 16 w 825"/>
                <a:gd name="T77" fmla="*/ 34 h 1222"/>
                <a:gd name="T78" fmla="*/ 10 w 825"/>
                <a:gd name="T79" fmla="*/ 26 h 1222"/>
                <a:gd name="T80" fmla="*/ 6 w 825"/>
                <a:gd name="T81" fmla="*/ 21 h 1222"/>
                <a:gd name="T82" fmla="*/ 3 w 825"/>
                <a:gd name="T83" fmla="*/ 17 h 1222"/>
                <a:gd name="T84" fmla="*/ 2 w 825"/>
                <a:gd name="T85" fmla="*/ 14 h 1222"/>
                <a:gd name="T86" fmla="*/ 1 w 825"/>
                <a:gd name="T87" fmla="*/ 10 h 1222"/>
                <a:gd name="T88" fmla="*/ 0 w 825"/>
                <a:gd name="T89" fmla="*/ 8 h 1222"/>
                <a:gd name="T90" fmla="*/ 1 w 825"/>
                <a:gd name="T91" fmla="*/ 6 h 1222"/>
                <a:gd name="T92" fmla="*/ 1 w 825"/>
                <a:gd name="T93" fmla="*/ 4 h 1222"/>
                <a:gd name="T94" fmla="*/ 2 w 825"/>
                <a:gd name="T95" fmla="*/ 3 h 1222"/>
                <a:gd name="T96" fmla="*/ 2 w 825"/>
                <a:gd name="T97" fmla="*/ 2 h 1222"/>
                <a:gd name="T98" fmla="*/ 3 w 825"/>
                <a:gd name="T99" fmla="*/ 1 h 1222"/>
                <a:gd name="T100" fmla="*/ 3 w 825"/>
                <a:gd name="T101" fmla="*/ 1 h 1222"/>
                <a:gd name="T102" fmla="*/ 3 w 825"/>
                <a:gd name="T103" fmla="*/ 1 h 1222"/>
                <a:gd name="T104" fmla="*/ 4 w 825"/>
                <a:gd name="T105" fmla="*/ 1 h 1222"/>
                <a:gd name="T106" fmla="*/ 4 w 825"/>
                <a:gd name="T107" fmla="*/ 1 h 1222"/>
                <a:gd name="T108" fmla="*/ 5 w 825"/>
                <a:gd name="T109" fmla="*/ 0 h 1222"/>
                <a:gd name="T110" fmla="*/ 7 w 825"/>
                <a:gd name="T111" fmla="*/ 1 h 1222"/>
                <a:gd name="T112" fmla="*/ 9 w 825"/>
                <a:gd name="T113" fmla="*/ 1 h 1222"/>
                <a:gd name="T114" fmla="*/ 11 w 825"/>
                <a:gd name="T115" fmla="*/ 2 h 1222"/>
                <a:gd name="T116" fmla="*/ 14 w 825"/>
                <a:gd name="T117" fmla="*/ 5 h 1222"/>
                <a:gd name="T118" fmla="*/ 18 w 825"/>
                <a:gd name="T119" fmla="*/ 9 h 1222"/>
                <a:gd name="T120" fmla="*/ 21 w 825"/>
                <a:gd name="T121" fmla="*/ 14 h 1222"/>
                <a:gd name="T122" fmla="*/ 21 w 825"/>
                <a:gd name="T123" fmla="*/ 14 h 1222"/>
                <a:gd name="T124" fmla="*/ 21 w 825"/>
                <a:gd name="T125" fmla="*/ 14 h 122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25"/>
                <a:gd name="T190" fmla="*/ 0 h 1222"/>
                <a:gd name="T191" fmla="*/ 825 w 825"/>
                <a:gd name="T192" fmla="*/ 1222 h 122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25" h="1222">
                  <a:moveTo>
                    <a:pt x="258" y="123"/>
                  </a:moveTo>
                  <a:lnTo>
                    <a:pt x="355" y="238"/>
                  </a:lnTo>
                  <a:lnTo>
                    <a:pt x="441" y="351"/>
                  </a:lnTo>
                  <a:lnTo>
                    <a:pt x="516" y="464"/>
                  </a:lnTo>
                  <a:lnTo>
                    <a:pt x="582" y="571"/>
                  </a:lnTo>
                  <a:lnTo>
                    <a:pt x="640" y="670"/>
                  </a:lnTo>
                  <a:lnTo>
                    <a:pt x="688" y="764"/>
                  </a:lnTo>
                  <a:lnTo>
                    <a:pt x="728" y="850"/>
                  </a:lnTo>
                  <a:lnTo>
                    <a:pt x="759" y="924"/>
                  </a:lnTo>
                  <a:lnTo>
                    <a:pt x="783" y="989"/>
                  </a:lnTo>
                  <a:lnTo>
                    <a:pt x="800" y="1039"/>
                  </a:lnTo>
                  <a:lnTo>
                    <a:pt x="810" y="1080"/>
                  </a:lnTo>
                  <a:lnTo>
                    <a:pt x="818" y="1115"/>
                  </a:lnTo>
                  <a:lnTo>
                    <a:pt x="824" y="1145"/>
                  </a:lnTo>
                  <a:lnTo>
                    <a:pt x="825" y="1170"/>
                  </a:lnTo>
                  <a:lnTo>
                    <a:pt x="825" y="1188"/>
                  </a:lnTo>
                  <a:lnTo>
                    <a:pt x="822" y="1204"/>
                  </a:lnTo>
                  <a:lnTo>
                    <a:pt x="818" y="1214"/>
                  </a:lnTo>
                  <a:lnTo>
                    <a:pt x="811" y="1221"/>
                  </a:lnTo>
                  <a:lnTo>
                    <a:pt x="803" y="1222"/>
                  </a:lnTo>
                  <a:lnTo>
                    <a:pt x="793" y="1222"/>
                  </a:lnTo>
                  <a:lnTo>
                    <a:pt x="782" y="1218"/>
                  </a:lnTo>
                  <a:lnTo>
                    <a:pt x="773" y="1211"/>
                  </a:lnTo>
                  <a:lnTo>
                    <a:pt x="766" y="1201"/>
                  </a:lnTo>
                  <a:lnTo>
                    <a:pt x="762" y="1190"/>
                  </a:lnTo>
                  <a:lnTo>
                    <a:pt x="758" y="1177"/>
                  </a:lnTo>
                  <a:lnTo>
                    <a:pt x="755" y="1166"/>
                  </a:lnTo>
                  <a:lnTo>
                    <a:pt x="752" y="1156"/>
                  </a:lnTo>
                  <a:lnTo>
                    <a:pt x="751" y="1148"/>
                  </a:lnTo>
                  <a:lnTo>
                    <a:pt x="751" y="1142"/>
                  </a:lnTo>
                  <a:lnTo>
                    <a:pt x="751" y="1139"/>
                  </a:lnTo>
                  <a:lnTo>
                    <a:pt x="723" y="1037"/>
                  </a:lnTo>
                  <a:lnTo>
                    <a:pt x="674" y="929"/>
                  </a:lnTo>
                  <a:lnTo>
                    <a:pt x="609" y="816"/>
                  </a:lnTo>
                  <a:lnTo>
                    <a:pt x="530" y="704"/>
                  </a:lnTo>
                  <a:lnTo>
                    <a:pt x="446" y="594"/>
                  </a:lnTo>
                  <a:lnTo>
                    <a:pt x="358" y="492"/>
                  </a:lnTo>
                  <a:lnTo>
                    <a:pt x="272" y="396"/>
                  </a:lnTo>
                  <a:lnTo>
                    <a:pt x="194" y="314"/>
                  </a:lnTo>
                  <a:lnTo>
                    <a:pt x="126" y="246"/>
                  </a:lnTo>
                  <a:lnTo>
                    <a:pt x="74" y="197"/>
                  </a:lnTo>
                  <a:lnTo>
                    <a:pt x="39" y="159"/>
                  </a:lnTo>
                  <a:lnTo>
                    <a:pt x="17" y="127"/>
                  </a:lnTo>
                  <a:lnTo>
                    <a:pt x="4" y="97"/>
                  </a:lnTo>
                  <a:lnTo>
                    <a:pt x="0" y="73"/>
                  </a:lnTo>
                  <a:lnTo>
                    <a:pt x="3" y="54"/>
                  </a:lnTo>
                  <a:lnTo>
                    <a:pt x="8" y="38"/>
                  </a:lnTo>
                  <a:lnTo>
                    <a:pt x="18" y="26"/>
                  </a:lnTo>
                  <a:lnTo>
                    <a:pt x="27" y="17"/>
                  </a:lnTo>
                  <a:lnTo>
                    <a:pt x="32" y="12"/>
                  </a:lnTo>
                  <a:lnTo>
                    <a:pt x="35" y="10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3" y="2"/>
                  </a:lnTo>
                  <a:lnTo>
                    <a:pt x="67" y="0"/>
                  </a:lnTo>
                  <a:lnTo>
                    <a:pt x="86" y="2"/>
                  </a:lnTo>
                  <a:lnTo>
                    <a:pt x="109" y="9"/>
                  </a:lnTo>
                  <a:lnTo>
                    <a:pt x="139" y="23"/>
                  </a:lnTo>
                  <a:lnTo>
                    <a:pt x="173" y="45"/>
                  </a:lnTo>
                  <a:lnTo>
                    <a:pt x="213" y="78"/>
                  </a:lnTo>
                  <a:lnTo>
                    <a:pt x="260" y="123"/>
                  </a:lnTo>
                  <a:lnTo>
                    <a:pt x="258" y="123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</p:grpSp>
      <p:sp>
        <p:nvSpPr>
          <p:cNvPr id="11" name="Text Box 28">
            <a:extLst>
              <a:ext uri="{FF2B5EF4-FFF2-40B4-BE49-F238E27FC236}">
                <a16:creationId xmlns:a16="http://schemas.microsoft.com/office/drawing/2014/main" id="{8462D4D9-02A3-4385-ABD6-E40E095D0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468" y="5555024"/>
            <a:ext cx="1745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تلفن خاموش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4" name="Picture 13" descr="CKL00032">
            <a:extLst>
              <a:ext uri="{FF2B5EF4-FFF2-40B4-BE49-F238E27FC236}">
                <a16:creationId xmlns:a16="http://schemas.microsoft.com/office/drawing/2014/main" id="{A2E2C688-45E4-4FC9-8C28-F6B55B6D1C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906" y="1111341"/>
            <a:ext cx="1599493" cy="137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Box 28">
            <a:extLst>
              <a:ext uri="{FF2B5EF4-FFF2-40B4-BE49-F238E27FC236}">
                <a16:creationId xmlns:a16="http://schemas.microsoft.com/office/drawing/2014/main" id="{7498C624-43B7-400E-B901-44C48C139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112" y="2609497"/>
            <a:ext cx="21130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گوش دادن فعال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6" name="Picture 15" descr="AYS00029">
            <a:extLst>
              <a:ext uri="{FF2B5EF4-FFF2-40B4-BE49-F238E27FC236}">
                <a16:creationId xmlns:a16="http://schemas.microsoft.com/office/drawing/2014/main" id="{3FD70F15-A5C3-4296-985B-D115DE734C06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7333" y="3848393"/>
            <a:ext cx="1580091" cy="1714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28">
            <a:extLst>
              <a:ext uri="{FF2B5EF4-FFF2-40B4-BE49-F238E27FC236}">
                <a16:creationId xmlns:a16="http://schemas.microsoft.com/office/drawing/2014/main" id="{CB8731A1-FF32-4F2F-81DA-CC55920F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68" y="5562600"/>
            <a:ext cx="15520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مطرح کردن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ایده‌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ها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8" name="Picture 17" descr="ANN00047">
            <a:extLst>
              <a:ext uri="{FF2B5EF4-FFF2-40B4-BE49-F238E27FC236}">
                <a16:creationId xmlns:a16="http://schemas.microsoft.com/office/drawing/2014/main" id="{A67F92F8-25D7-4ACE-865D-13FF29C1C698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8831" y="3799114"/>
            <a:ext cx="2423299" cy="1763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28">
            <a:extLst>
              <a:ext uri="{FF2B5EF4-FFF2-40B4-BE49-F238E27FC236}">
                <a16:creationId xmlns:a16="http://schemas.microsoft.com/office/drawing/2014/main" id="{7E1B1FB5-AF27-4DCE-A70E-B82931DFC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580" y="5562918"/>
            <a:ext cx="16273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فعالیت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‌های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گروهی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20" name="Picture 19" descr="PE01931_">
            <a:extLst>
              <a:ext uri="{FF2B5EF4-FFF2-40B4-BE49-F238E27FC236}">
                <a16:creationId xmlns:a16="http://schemas.microsoft.com/office/drawing/2014/main" id="{CC3974AC-E0FE-414E-868F-0311EF55923C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86" y="950259"/>
            <a:ext cx="1655073" cy="176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28">
            <a:extLst>
              <a:ext uri="{FF2B5EF4-FFF2-40B4-BE49-F238E27FC236}">
                <a16:creationId xmlns:a16="http://schemas.microsoft.com/office/drawing/2014/main" id="{1A14A3D5-AC3C-40E1-9453-8DB02E275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012" y="2609497"/>
            <a:ext cx="18293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وقت‌</a:t>
            </a:r>
            <a:r>
              <a:rPr lang="prs-AF" sz="2000" dirty="0"/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شناسی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6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E97C-395B-1C53-828A-2547A3D1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0759"/>
            <a:ext cx="8596668" cy="1320800"/>
          </a:xfrm>
        </p:spPr>
        <p:txBody>
          <a:bodyPr/>
          <a:lstStyle/>
          <a:p>
            <a:pPr algn="r" rtl="1"/>
            <a:r>
              <a:rPr lang="en-US" dirty="0"/>
              <a:t>Shape Data</a:t>
            </a:r>
            <a:r>
              <a:rPr lang="ps-AF" dirty="0"/>
              <a:t> </a:t>
            </a:r>
            <a:r>
              <a:rPr lang="fa-IR" dirty="0"/>
              <a:t>چیست؟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F378-1DA9-2983-B751-42BDA808B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30147"/>
            <a:ext cx="8596668" cy="5667094"/>
          </a:xfrm>
        </p:spPr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ps-AF" sz="2200" b="1" dirty="0">
                <a:cs typeface="+mj-cs"/>
              </a:rPr>
              <a:t>تعریف:</a:t>
            </a:r>
            <a:endParaRPr lang="en-US" sz="2200" b="1" dirty="0">
              <a:cs typeface="+mj-cs"/>
            </a:endParaRPr>
          </a:p>
          <a:p>
            <a:pPr algn="r" rtl="1"/>
            <a:r>
              <a:rPr lang="en-US" sz="2000" dirty="0">
                <a:cs typeface="+mj-cs"/>
              </a:rPr>
              <a:t>Shape Data</a:t>
            </a:r>
            <a:r>
              <a:rPr lang="ps-AF" sz="2000" dirty="0">
                <a:cs typeface="+mj-cs"/>
              </a:rPr>
              <a:t> عبارت از</a:t>
            </a:r>
            <a:r>
              <a:rPr lang="en-US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معلومات اضافی (</a:t>
            </a:r>
            <a:r>
              <a:rPr lang="en-US" sz="2000" dirty="0">
                <a:cs typeface="+mj-cs"/>
              </a:rPr>
              <a:t>Metadata</a:t>
            </a:r>
            <a:r>
              <a:rPr lang="ps-AF" sz="2000" dirty="0">
                <a:cs typeface="+mj-cs"/>
              </a:rPr>
              <a:t>)</a:t>
            </a:r>
            <a:r>
              <a:rPr lang="en-US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است که به اشکال در  </a:t>
            </a:r>
            <a:r>
              <a:rPr lang="en-US" sz="2000" dirty="0">
                <a:cs typeface="+mj-cs"/>
              </a:rPr>
              <a:t>Visio</a:t>
            </a:r>
            <a:r>
              <a:rPr lang="ps-AF" sz="2000" dirty="0">
                <a:cs typeface="+mj-cs"/>
              </a:rPr>
              <a:t> </a:t>
            </a:r>
            <a:r>
              <a:rPr lang="en-US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اضافه می‌شود تا آنها را "هوشمند" بسازد.</a:t>
            </a:r>
          </a:p>
          <a:p>
            <a:pPr algn="r" rtl="1"/>
            <a:r>
              <a:rPr lang="en-US" sz="2000" dirty="0">
                <a:cs typeface="+mj-cs"/>
              </a:rPr>
              <a:t>Shape Data</a:t>
            </a:r>
            <a:r>
              <a:rPr lang="ps-AF" sz="2000" dirty="0">
                <a:cs typeface="+mj-cs"/>
              </a:rPr>
              <a:t> </a:t>
            </a:r>
            <a:r>
              <a:rPr lang="en-US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معلوماتی مانند نام، </a:t>
            </a:r>
            <a:r>
              <a:rPr lang="en-US" sz="2000" dirty="0">
                <a:cs typeface="+mj-cs"/>
              </a:rPr>
              <a:t>IP</a:t>
            </a:r>
            <a:r>
              <a:rPr lang="ps-AF" sz="2000" dirty="0">
                <a:cs typeface="+mj-cs"/>
              </a:rPr>
              <a:t>، نقش یا وضعیت یک دستگاه است که به یک شکل (مثلاً روتر یا سرور) در </a:t>
            </a:r>
            <a:r>
              <a:rPr lang="en-US" sz="2000" dirty="0">
                <a:cs typeface="+mj-cs"/>
              </a:rPr>
              <a:t>Visio</a:t>
            </a:r>
            <a:r>
              <a:rPr lang="ps-AF" sz="2000" dirty="0">
                <a:cs typeface="+mj-cs"/>
              </a:rPr>
              <a:t> </a:t>
            </a:r>
            <a:r>
              <a:rPr lang="en-US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اضافه می‌شود. این معلومات در ظاهر شکل دیده نمی‌شود، اما در پشت آن ذخیره شده و می‌توان در گزارش‌گیری یا نمایش گرافیکی (مانند رنگ‌ها و آیکن‌ها) از آن استفاده کرد.</a:t>
            </a:r>
          </a:p>
          <a:p>
            <a:pPr marL="0" indent="0" algn="r" rtl="1">
              <a:buNone/>
            </a:pPr>
            <a:r>
              <a:rPr lang="fa-IR" sz="2000" b="1" dirty="0">
                <a:cs typeface="+mj-cs"/>
              </a:rPr>
              <a:t>هدف استفاده:</a:t>
            </a:r>
            <a:endParaRPr lang="ps-AF" sz="2000" b="1" dirty="0">
              <a:cs typeface="+mj-cs"/>
            </a:endParaRPr>
          </a:p>
          <a:p>
            <a:pPr algn="r" rtl="1"/>
            <a:r>
              <a:rPr lang="fa-IR" sz="2000" dirty="0">
                <a:cs typeface="+mj-cs"/>
              </a:rPr>
              <a:t>اضافه‌کردن </a:t>
            </a:r>
            <a:r>
              <a:rPr lang="ps-AF" sz="2000" dirty="0">
                <a:cs typeface="+mj-cs"/>
              </a:rPr>
              <a:t>معلومات</a:t>
            </a:r>
            <a:r>
              <a:rPr lang="fa-IR" sz="2000" dirty="0">
                <a:cs typeface="+mj-cs"/>
              </a:rPr>
              <a:t> </a:t>
            </a:r>
            <a:r>
              <a:rPr lang="ps-AF" sz="2000" dirty="0">
                <a:cs typeface="+mj-cs"/>
              </a:rPr>
              <a:t>تخنیکی</a:t>
            </a:r>
            <a:r>
              <a:rPr lang="fa-IR" sz="2000" dirty="0">
                <a:cs typeface="+mj-cs"/>
              </a:rPr>
              <a:t> به دیاگرام تا دیاگرام فقط تصویری نباشد، بلکه هوشمند و تحلیلی باشد.</a:t>
            </a:r>
          </a:p>
          <a:p>
            <a:pPr algn="r" rtl="1">
              <a:buNone/>
            </a:pPr>
            <a:r>
              <a:rPr lang="fa-IR" sz="2000" b="1" dirty="0">
                <a:cs typeface="+mj-cs"/>
              </a:rPr>
              <a:t>کاربردها:</a:t>
            </a:r>
            <a:endParaRPr lang="fa-IR" sz="2000" dirty="0">
              <a:cs typeface="+mj-cs"/>
            </a:endParaRPr>
          </a:p>
          <a:p>
            <a:pPr algn="r" rtl="1"/>
            <a:r>
              <a:rPr lang="fa-IR" sz="2000" dirty="0">
                <a:cs typeface="+mj-cs"/>
              </a:rPr>
              <a:t>مشخص‌سازی دقیق تجهیزات (مثلاً نام، </a:t>
            </a:r>
            <a:r>
              <a:rPr lang="en-US" sz="2000" dirty="0">
                <a:cs typeface="+mj-cs"/>
              </a:rPr>
              <a:t>IP</a:t>
            </a:r>
            <a:r>
              <a:rPr lang="fa-IR" sz="2000" dirty="0">
                <a:cs typeface="+mj-cs"/>
              </a:rPr>
              <a:t>، نقش)</a:t>
            </a:r>
          </a:p>
          <a:p>
            <a:pPr algn="r" rtl="1"/>
            <a:r>
              <a:rPr lang="fa-IR" sz="2000" dirty="0">
                <a:cs typeface="+mj-cs"/>
              </a:rPr>
              <a:t>نمایش وضعیت‌ها با رنگ یا آیکن </a:t>
            </a:r>
            <a:r>
              <a:rPr lang="ps-AF" sz="2000" dirty="0">
                <a:cs typeface="+mj-cs"/>
              </a:rPr>
              <a:t>(</a:t>
            </a:r>
            <a:r>
              <a:rPr lang="en-US" sz="2000" dirty="0">
                <a:cs typeface="+mj-cs"/>
              </a:rPr>
              <a:t>Data Graphics</a:t>
            </a:r>
            <a:r>
              <a:rPr lang="ps-AF" sz="2000" dirty="0">
                <a:cs typeface="+mj-cs"/>
              </a:rPr>
              <a:t>)</a:t>
            </a:r>
            <a:endParaRPr lang="en-US" sz="2000" dirty="0">
              <a:cs typeface="+mj-cs"/>
            </a:endParaRPr>
          </a:p>
          <a:p>
            <a:pPr algn="r" rtl="1"/>
            <a:r>
              <a:rPr lang="fa-IR" sz="2000" dirty="0">
                <a:cs typeface="+mj-cs"/>
              </a:rPr>
              <a:t>اتصال به فایل </a:t>
            </a:r>
            <a:r>
              <a:rPr lang="en-US" sz="2000" dirty="0">
                <a:cs typeface="+mj-cs"/>
              </a:rPr>
              <a:t>Excel</a:t>
            </a:r>
            <a:r>
              <a:rPr lang="ps-AF" sz="2000" dirty="0">
                <a:cs typeface="+mj-cs"/>
              </a:rPr>
              <a:t> </a:t>
            </a:r>
            <a:r>
              <a:rPr lang="en-US" sz="2000" dirty="0">
                <a:cs typeface="+mj-cs"/>
              </a:rPr>
              <a:t> </a:t>
            </a:r>
            <a:r>
              <a:rPr lang="fa-IR" sz="2000" dirty="0">
                <a:cs typeface="+mj-cs"/>
              </a:rPr>
              <a:t>برای نمایش </a:t>
            </a:r>
            <a:r>
              <a:rPr lang="ps-AF" sz="2000" dirty="0">
                <a:cs typeface="+mj-cs"/>
              </a:rPr>
              <a:t>معلومات زنده</a:t>
            </a:r>
            <a:endParaRPr lang="fa-IR" sz="2000" dirty="0">
              <a:cs typeface="+mj-cs"/>
            </a:endParaRPr>
          </a:p>
          <a:p>
            <a:pPr algn="r" rtl="1"/>
            <a:r>
              <a:rPr lang="fa-IR" sz="2000" dirty="0">
                <a:cs typeface="+mj-cs"/>
              </a:rPr>
              <a:t>کمک به مستندسازی و گزارش</a:t>
            </a:r>
            <a:r>
              <a:rPr lang="ps-AF" sz="2000" dirty="0">
                <a:cs typeface="+mj-cs"/>
              </a:rPr>
              <a:t> </a:t>
            </a:r>
            <a:r>
              <a:rPr lang="fa-IR" sz="2000" dirty="0">
                <a:cs typeface="+mj-cs"/>
              </a:rPr>
              <a:t>‌دهی حرفه‌ای</a:t>
            </a:r>
          </a:p>
          <a:p>
            <a:pPr algn="r" rtl="1"/>
            <a:endParaRPr lang="ps-AF" sz="2000" dirty="0">
              <a:cs typeface="+mj-cs"/>
            </a:endParaRPr>
          </a:p>
          <a:p>
            <a:pPr algn="r" rtl="1"/>
            <a:endParaRPr lang="en-US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122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84E9-5229-CA65-9C26-DF7AC829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ps-AF" sz="2800" dirty="0"/>
              <a:t>مراحل افزودن و نمایش معلومات (</a:t>
            </a:r>
            <a:r>
              <a:rPr lang="en-US" sz="2800" dirty="0"/>
              <a:t>Shape Data</a:t>
            </a:r>
            <a:r>
              <a:rPr lang="ps-AF" sz="2800" dirty="0"/>
              <a:t>) در </a:t>
            </a:r>
            <a:r>
              <a:rPr lang="en-US" sz="2800" dirty="0"/>
              <a:t>Visio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DD6C-093E-0427-2403-99B50C92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1089"/>
            <a:ext cx="8596668" cy="4710273"/>
          </a:xfrm>
        </p:spPr>
        <p:txBody>
          <a:bodyPr>
            <a:normAutofit fontScale="92500" lnSpcReduction="20000"/>
          </a:bodyPr>
          <a:lstStyle/>
          <a:p>
            <a:pPr algn="r" rtl="1">
              <a:buFont typeface="Arial" panose="020B0604020202020204" pitchFamily="34" charset="0"/>
              <a:buChar char="•"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افزودن فیلدها به شکل</a:t>
            </a:r>
            <a:r>
              <a:rPr lang="prs-AF" b="1" dirty="0"/>
              <a:t> (</a:t>
            </a:r>
            <a:r>
              <a:rPr lang="en-US" b="1" dirty="0"/>
              <a:t>Shape</a:t>
            </a:r>
            <a:r>
              <a:rPr lang="prs-AF" b="1" dirty="0"/>
              <a:t>):</a:t>
            </a:r>
          </a:p>
          <a:p>
            <a:pPr algn="r" rtl="1"/>
            <a:r>
              <a:rPr lang="fa-IR" dirty="0"/>
              <a:t>روی شکل کلیک راست کنید</a:t>
            </a:r>
            <a:endParaRPr lang="prs-AF" dirty="0"/>
          </a:p>
          <a:p>
            <a:pPr algn="r" rtl="1"/>
            <a:r>
              <a:rPr lang="fa-IR" dirty="0"/>
              <a:t>گزینه‌ی </a:t>
            </a:r>
            <a:r>
              <a:rPr lang="en-US" b="1" dirty="0"/>
              <a:t>Data → Define Shape Data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را انتخاب نمایید</a:t>
            </a:r>
            <a:endParaRPr lang="prs-AF" dirty="0"/>
          </a:p>
          <a:p>
            <a:pPr algn="r" rtl="1"/>
            <a:r>
              <a:rPr lang="fa-IR" dirty="0"/>
              <a:t>دکمه‌ی </a:t>
            </a:r>
            <a:r>
              <a:rPr lang="en-US" b="1" dirty="0"/>
              <a:t>New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را بزنید و فیلد جدید تعریف کنید (مثلاً </a:t>
            </a:r>
            <a:r>
              <a:rPr lang="en-US" dirty="0"/>
              <a:t>IP Address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یا </a:t>
            </a:r>
            <a:r>
              <a:rPr lang="en-US" dirty="0"/>
              <a:t>Role</a:t>
            </a:r>
            <a:r>
              <a:rPr lang="prs-AF" dirty="0"/>
              <a:t>)</a:t>
            </a:r>
          </a:p>
          <a:p>
            <a:pPr algn="r" rtl="1"/>
            <a:r>
              <a:rPr lang="fa-IR" dirty="0"/>
              <a:t>نوع فیلد را مشخص کنید:</a:t>
            </a:r>
            <a:endParaRPr lang="prs-AF" dirty="0"/>
          </a:p>
          <a:p>
            <a:pPr algn="r" rtl="1"/>
            <a:r>
              <a:rPr lang="fa-IR" dirty="0"/>
              <a:t>متن (</a:t>
            </a:r>
            <a:r>
              <a:rPr lang="en-US" dirty="0"/>
              <a:t>(Text، </a:t>
            </a:r>
            <a:r>
              <a:rPr lang="fa-IR" dirty="0"/>
              <a:t>عدد </a:t>
            </a:r>
            <a:r>
              <a:rPr lang="en-US" dirty="0"/>
              <a:t>(Number)، </a:t>
            </a:r>
            <a:r>
              <a:rPr lang="fa-IR" dirty="0"/>
              <a:t>لیست انتخابی </a:t>
            </a:r>
            <a:r>
              <a:rPr lang="en-US" dirty="0"/>
              <a:t>(List)، </a:t>
            </a:r>
            <a:r>
              <a:rPr lang="fa-IR" dirty="0"/>
              <a:t>تاریخ </a:t>
            </a:r>
            <a:r>
              <a:rPr lang="en-US" dirty="0"/>
              <a:t>(Date)</a:t>
            </a:r>
            <a:endParaRPr lang="ps-AF" dirty="0"/>
          </a:p>
          <a:p>
            <a:pPr algn="r" rtl="1"/>
            <a:r>
              <a:rPr lang="en-US" dirty="0"/>
              <a:t>Label: </a:t>
            </a:r>
            <a:r>
              <a:rPr lang="ps-AF" dirty="0"/>
              <a:t> </a:t>
            </a:r>
            <a:r>
              <a:rPr lang="prs-AF" dirty="0"/>
              <a:t>نام فیلد | </a:t>
            </a:r>
            <a:r>
              <a:rPr lang="en-US" dirty="0"/>
              <a:t>Type: </a:t>
            </a:r>
            <a:r>
              <a:rPr lang="ps-AF" dirty="0"/>
              <a:t> </a:t>
            </a:r>
            <a:r>
              <a:rPr lang="prs-AF" dirty="0"/>
              <a:t>نوع </a:t>
            </a:r>
            <a:r>
              <a:rPr lang="ps-AF" dirty="0"/>
              <a:t>دیتا</a:t>
            </a:r>
            <a:r>
              <a:rPr lang="prs-AF" dirty="0"/>
              <a:t> | </a:t>
            </a:r>
            <a:r>
              <a:rPr lang="en-US" dirty="0"/>
              <a:t>Format: </a:t>
            </a:r>
            <a:r>
              <a:rPr lang="ps-AF" dirty="0"/>
              <a:t> </a:t>
            </a:r>
            <a:r>
              <a:rPr lang="prs-AF" dirty="0"/>
              <a:t>طرز نمایش مقدار | </a:t>
            </a:r>
            <a:r>
              <a:rPr lang="en-US" dirty="0"/>
              <a:t>Value: </a:t>
            </a:r>
            <a:r>
              <a:rPr lang="ps-AF" dirty="0"/>
              <a:t> </a:t>
            </a:r>
            <a:r>
              <a:rPr lang="prs-AF" dirty="0"/>
              <a:t>مقدار پیش‌فرض | </a:t>
            </a:r>
            <a:r>
              <a:rPr lang="en-US" dirty="0"/>
              <a:t>Prompt: </a:t>
            </a:r>
            <a:r>
              <a:rPr lang="ps-AF" dirty="0"/>
              <a:t> </a:t>
            </a:r>
            <a:r>
              <a:rPr lang="prs-AF" dirty="0"/>
              <a:t>پیام راهنمای کاربر</a:t>
            </a:r>
          </a:p>
          <a:p>
            <a:pPr marL="0" indent="0" algn="r" rtl="1">
              <a:buNone/>
            </a:pPr>
            <a:r>
              <a:rPr lang="fa-IR" b="1" dirty="0"/>
              <a:t>وارد کردن </a:t>
            </a:r>
            <a:r>
              <a:rPr lang="ps-AF" b="1" dirty="0"/>
              <a:t>دیتا ها</a:t>
            </a:r>
            <a:r>
              <a:rPr lang="fa-IR" b="1" dirty="0"/>
              <a:t> به فیلدها:</a:t>
            </a:r>
            <a:endParaRPr lang="prs-AF" b="1" dirty="0"/>
          </a:p>
          <a:p>
            <a:pPr algn="r" rtl="1"/>
            <a:r>
              <a:rPr lang="fa-IR" dirty="0"/>
              <a:t>پس از انتخاب شکل، پنجره‌ی </a:t>
            </a:r>
            <a:r>
              <a:rPr lang="en-US" b="1" dirty="0"/>
              <a:t>Shape Data</a:t>
            </a:r>
            <a:r>
              <a:rPr lang="ps-AF" b="1" dirty="0"/>
              <a:t> </a:t>
            </a:r>
            <a:r>
              <a:rPr lang="en-US" dirty="0"/>
              <a:t> </a:t>
            </a:r>
            <a:r>
              <a:rPr lang="fa-IR" dirty="0"/>
              <a:t>را از مسیر:</a:t>
            </a:r>
            <a:endParaRPr lang="prs-AF" dirty="0"/>
          </a:p>
          <a:p>
            <a:pPr algn="r" rtl="1"/>
            <a:r>
              <a:rPr lang="en-US" dirty="0"/>
              <a:t>View → Task Panes → Shape Data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prs-AF" dirty="0"/>
              <a:t>فعال کنید</a:t>
            </a:r>
          </a:p>
          <a:p>
            <a:pPr algn="r" rtl="1"/>
            <a:r>
              <a:rPr lang="fa-IR" dirty="0"/>
              <a:t>در پنجره بازشده، مقادیر دلخواه را در فیلدها وارد کنید</a:t>
            </a:r>
            <a:endParaRPr lang="prs-AF" dirty="0"/>
          </a:p>
          <a:p>
            <a:pPr algn="r" rtl="1"/>
            <a:r>
              <a:rPr lang="fa-IR" dirty="0"/>
              <a:t>مثال: </a:t>
            </a:r>
            <a:r>
              <a:rPr lang="en-US" dirty="0"/>
              <a:t>IP Address = 192.168.1.1 | Status = Active</a:t>
            </a:r>
            <a:endParaRPr lang="prs-AF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3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6C9F-3B4D-E219-ACFE-9450A99B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ایجاد و استفاده از مجموعه قابل استفاده مجدد (</a:t>
            </a:r>
            <a:r>
              <a:rPr lang="en-US" dirty="0"/>
              <a:t>Reusable Shape Data Set</a:t>
            </a:r>
            <a:r>
              <a:rPr lang="ps-AF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6AA5-6B83-6914-CFED-926F66DE8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8057"/>
            <a:ext cx="8596668" cy="4713305"/>
          </a:xfrm>
        </p:spPr>
        <p:txBody>
          <a:bodyPr>
            <a:normAutofit/>
          </a:bodyPr>
          <a:lstStyle/>
          <a:p>
            <a:pPr algn="r" rtl="1">
              <a:buNone/>
            </a:pPr>
            <a:r>
              <a:rPr lang="fa-IR" b="1" dirty="0"/>
              <a:t>هدف:</a:t>
            </a:r>
            <a:br>
              <a:rPr lang="fa-IR" dirty="0"/>
            </a:br>
            <a:r>
              <a:rPr lang="fa-IR" dirty="0"/>
              <a:t>تعریف یک مجموعه‌ی </a:t>
            </a:r>
            <a:r>
              <a:rPr lang="ps-AF" dirty="0"/>
              <a:t>فیلد های دیتا</a:t>
            </a:r>
            <a:r>
              <a:rPr lang="fa-IR" dirty="0"/>
              <a:t> </a:t>
            </a:r>
            <a:r>
              <a:rPr lang="ps-AF" dirty="0"/>
              <a:t>(</a:t>
            </a:r>
            <a:r>
              <a:rPr lang="en-US" dirty="0"/>
              <a:t>Data Set</a:t>
            </a:r>
            <a:r>
              <a:rPr lang="ps-AF" dirty="0"/>
              <a:t>) </a:t>
            </a:r>
            <a:r>
              <a:rPr lang="fa-IR" dirty="0"/>
              <a:t>برای استفاده روی چندین شکل به‌طور هم‌زمان یا در آینده</a:t>
            </a:r>
          </a:p>
          <a:p>
            <a:pPr algn="r" rtl="1">
              <a:buNone/>
            </a:pPr>
            <a:r>
              <a:rPr lang="fa-IR" b="1" dirty="0"/>
              <a:t>مراحل ایجاد </a:t>
            </a:r>
            <a:r>
              <a:rPr lang="en-US" b="1" dirty="0"/>
              <a:t>Data Set</a:t>
            </a:r>
            <a:r>
              <a:rPr lang="ps-AF" b="1" dirty="0"/>
              <a:t> </a:t>
            </a:r>
            <a:r>
              <a:rPr lang="en-US" b="1" dirty="0"/>
              <a:t> </a:t>
            </a:r>
            <a:r>
              <a:rPr lang="fa-IR" b="1" dirty="0"/>
              <a:t>قابل استفاده مجدد:</a:t>
            </a:r>
            <a:endParaRPr lang="fa-IR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از مسیر </a:t>
            </a:r>
            <a:r>
              <a:rPr lang="en-US" b="1" dirty="0"/>
              <a:t>View → Task Panes → Shape Data</a:t>
            </a:r>
            <a:r>
              <a:rPr lang="ps-AF" b="1" dirty="0"/>
              <a:t> </a:t>
            </a:r>
            <a:r>
              <a:rPr lang="en-US" dirty="0"/>
              <a:t> </a:t>
            </a:r>
            <a:r>
              <a:rPr lang="fa-IR" dirty="0"/>
              <a:t>پنجره </a:t>
            </a:r>
            <a:r>
              <a:rPr lang="en-US" dirty="0"/>
              <a:t>Shape Data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را فعال کنید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راست‌کلیک در پنجره → انتخاب </a:t>
            </a:r>
            <a:r>
              <a:rPr lang="en-US" b="1" dirty="0"/>
              <a:t>Shape Data Sets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کلیک بر </a:t>
            </a:r>
            <a:r>
              <a:rPr lang="en-US" b="1" dirty="0"/>
              <a:t>Add</a:t>
            </a:r>
            <a:r>
              <a:rPr lang="ps-AF" b="1" dirty="0"/>
              <a:t> </a:t>
            </a:r>
            <a:r>
              <a:rPr lang="en-US" b="1" dirty="0"/>
              <a:t> → </a:t>
            </a:r>
            <a:r>
              <a:rPr lang="fa-IR" b="1" dirty="0"/>
              <a:t>نام‌گذاری مجموعه → </a:t>
            </a:r>
            <a:r>
              <a:rPr lang="en-US" b="1" dirty="0"/>
              <a:t>OK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انتخاب </a:t>
            </a:r>
            <a:r>
              <a:rPr lang="en-US" dirty="0"/>
              <a:t>Data Set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جدید و کلیک بر </a:t>
            </a:r>
            <a:r>
              <a:rPr lang="en-US" b="1" dirty="0"/>
              <a:t>Define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در پنجره </a:t>
            </a:r>
            <a:r>
              <a:rPr lang="en-US" b="1" dirty="0"/>
              <a:t>Define Shape Data</a:t>
            </a:r>
            <a:r>
              <a:rPr lang="ps-AF" b="1" dirty="0"/>
              <a:t> </a:t>
            </a:r>
            <a:r>
              <a:rPr lang="en-US" dirty="0"/>
              <a:t> </a:t>
            </a:r>
            <a:r>
              <a:rPr lang="fa-IR" dirty="0"/>
              <a:t>فیلدها را اضافه کنید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پس از تکمیل، </a:t>
            </a:r>
            <a:r>
              <a:rPr lang="en-US" b="1" dirty="0"/>
              <a:t>OK</a:t>
            </a:r>
            <a:r>
              <a:rPr lang="ps-AF" b="1" dirty="0"/>
              <a:t> </a:t>
            </a:r>
            <a:r>
              <a:rPr lang="en-US" dirty="0"/>
              <a:t> </a:t>
            </a:r>
            <a:r>
              <a:rPr lang="fa-IR" dirty="0"/>
              <a:t>را بزنید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برای اعمال روی شکل‌ها → مجموعه را انتخاب کنید و گزینه‌ی </a:t>
            </a:r>
            <a:r>
              <a:rPr lang="en-US" b="1" dirty="0"/>
              <a:t>Apply</a:t>
            </a:r>
            <a:r>
              <a:rPr lang="ps-AF" b="1" dirty="0"/>
              <a:t> </a:t>
            </a:r>
            <a:r>
              <a:rPr lang="en-US" dirty="0"/>
              <a:t> </a:t>
            </a:r>
            <a:r>
              <a:rPr lang="fa-IR" dirty="0"/>
              <a:t>را بزنید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حالا با انتخاب هر شکل، فیلدهای جدید در پنجره </a:t>
            </a:r>
            <a:r>
              <a:rPr lang="en-US" dirty="0"/>
              <a:t>Shape Data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نمایش می‌یابد</a:t>
            </a:r>
          </a:p>
        </p:txBody>
      </p:sp>
    </p:spTree>
    <p:extLst>
      <p:ext uri="{BB962C8B-B14F-4D97-AF65-F5344CB8AC3E}">
        <p14:creationId xmlns:p14="http://schemas.microsoft.com/office/powerpoint/2010/main" val="186346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E905-4F6D-5F98-17DF-F8EEE3F2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56237"/>
            <a:ext cx="8596668" cy="1320800"/>
          </a:xfrm>
        </p:spPr>
        <p:txBody>
          <a:bodyPr>
            <a:normAutofit/>
          </a:bodyPr>
          <a:lstStyle/>
          <a:p>
            <a:pPr algn="r" rtl="1"/>
            <a:r>
              <a:rPr lang="fa-IR" sz="3200" dirty="0"/>
              <a:t>افزودن فیلدها به </a:t>
            </a:r>
            <a:r>
              <a:rPr lang="en-US" sz="3200" dirty="0"/>
              <a:t>Master Shape</a:t>
            </a:r>
            <a:r>
              <a:rPr lang="ps-AF" sz="3200" dirty="0"/>
              <a:t> </a:t>
            </a:r>
            <a:r>
              <a:rPr lang="en-US" sz="3200" dirty="0"/>
              <a:t> </a:t>
            </a:r>
            <a:r>
              <a:rPr lang="fa-IR" sz="3200" dirty="0"/>
              <a:t>و حذف فیلدها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946F-F72D-CE0F-69D8-0E3C85139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55914"/>
            <a:ext cx="8978295" cy="4985449"/>
          </a:xfrm>
        </p:spPr>
        <p:txBody>
          <a:bodyPr>
            <a:normAutofit fontScale="92500" lnSpcReduction="10000"/>
          </a:bodyPr>
          <a:lstStyle/>
          <a:p>
            <a:pPr algn="r" rtl="1">
              <a:buNone/>
            </a:pPr>
            <a:r>
              <a:rPr lang="fa-IR" b="1" dirty="0"/>
              <a:t>افزودن </a:t>
            </a:r>
            <a:r>
              <a:rPr lang="en-US" b="1" dirty="0"/>
              <a:t>Shape Data</a:t>
            </a:r>
            <a:r>
              <a:rPr lang="ps-AF" b="1" dirty="0"/>
              <a:t> </a:t>
            </a:r>
            <a:r>
              <a:rPr lang="en-US" b="1" dirty="0"/>
              <a:t> </a:t>
            </a:r>
            <a:r>
              <a:rPr lang="fa-IR" b="1" dirty="0"/>
              <a:t>به </a:t>
            </a:r>
            <a:r>
              <a:rPr lang="en-US" b="1" dirty="0"/>
              <a:t>Master</a:t>
            </a:r>
            <a:r>
              <a:rPr lang="ps-AF" b="1" dirty="0"/>
              <a:t> (</a:t>
            </a:r>
            <a:r>
              <a:rPr lang="fa-IR" b="1" dirty="0"/>
              <a:t>قالب اصلی):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در </a:t>
            </a:r>
            <a:r>
              <a:rPr lang="en-US" dirty="0"/>
              <a:t>Stencils، </a:t>
            </a:r>
            <a:r>
              <a:rPr lang="fa-IR" dirty="0"/>
              <a:t>روی شکل راست‌کلیک → </a:t>
            </a:r>
            <a:r>
              <a:rPr lang="en-US" b="1" dirty="0"/>
              <a:t>Add to My Shapes</a:t>
            </a:r>
            <a:endParaRPr lang="en-US" dirty="0"/>
          </a:p>
          <a:p>
            <a:pPr marL="742950" lvl="1" indent="-285750" algn="r" rtl="1">
              <a:buFont typeface="+mj-lt"/>
              <a:buAutoNum type="arabicPeriod"/>
            </a:pPr>
            <a:r>
              <a:rPr lang="fa-IR" dirty="0"/>
              <a:t>ایجاد قالب جدید: </a:t>
            </a:r>
            <a:r>
              <a:rPr lang="en-US" dirty="0"/>
              <a:t>Add to New Stencil</a:t>
            </a:r>
          </a:p>
          <a:p>
            <a:pPr marL="742950" lvl="1" indent="-285750" algn="r" rtl="1">
              <a:buFont typeface="+mj-lt"/>
              <a:buAutoNum type="arabicPeriod"/>
            </a:pPr>
            <a:r>
              <a:rPr lang="fa-IR" dirty="0"/>
              <a:t>افزودن به قالب موجود: </a:t>
            </a:r>
            <a:r>
              <a:rPr lang="en-US" dirty="0"/>
              <a:t>Add to Existing Stencil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فایل </a:t>
            </a:r>
            <a:r>
              <a:rPr lang="en-US" dirty="0"/>
              <a:t>Stencil </a:t>
            </a:r>
            <a:r>
              <a:rPr lang="prs-AF" dirty="0"/>
              <a:t> </a:t>
            </a:r>
            <a:r>
              <a:rPr lang="fa-IR" dirty="0"/>
              <a:t>را باز کرده و گزینه‌ی </a:t>
            </a:r>
            <a:r>
              <a:rPr lang="en-US" b="1" dirty="0"/>
              <a:t>Edit Stencil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را فعال کنید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راست‌کلیک بر شکل → </a:t>
            </a:r>
            <a:r>
              <a:rPr lang="en-US" b="1" dirty="0"/>
              <a:t>Edit Master Shape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راست‌کلیک در صفحه → </a:t>
            </a:r>
            <a:r>
              <a:rPr lang="en-US" b="1" dirty="0"/>
              <a:t>Data → Define Shape Data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فیلدهای موردنظر را اضافه کرده و </a:t>
            </a:r>
            <a:r>
              <a:rPr lang="en-US" dirty="0"/>
              <a:t>OK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را بزنید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پنجره شکل را ببندید و گزینه‌ی </a:t>
            </a:r>
            <a:r>
              <a:rPr lang="en-US" b="1" dirty="0"/>
              <a:t>Yes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را برای ذخیره انتخاب کنید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قالب را </a:t>
            </a:r>
            <a:r>
              <a:rPr lang="en-US" dirty="0"/>
              <a:t>Save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کنید</a:t>
            </a:r>
          </a:p>
          <a:p>
            <a:pPr algn="r" rtl="1">
              <a:buNone/>
            </a:pPr>
            <a:r>
              <a:rPr lang="fa-IR" b="1" dirty="0"/>
              <a:t>حذف فیلد </a:t>
            </a:r>
            <a:r>
              <a:rPr lang="prs-AF" b="1" dirty="0"/>
              <a:t>دیتا ها</a:t>
            </a:r>
            <a:r>
              <a:rPr lang="fa-IR" b="1" dirty="0"/>
              <a:t>:</a:t>
            </a:r>
            <a:endParaRPr lang="fa-IR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شکل مورد</a:t>
            </a:r>
            <a:r>
              <a:rPr lang="prs-AF" dirty="0"/>
              <a:t> </a:t>
            </a:r>
            <a:r>
              <a:rPr lang="fa-IR" dirty="0"/>
              <a:t>نظر را انتخاب کنید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در پنجره </a:t>
            </a:r>
            <a:r>
              <a:rPr lang="en-US" dirty="0"/>
              <a:t>Shape Data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راست‌کلیک → </a:t>
            </a:r>
            <a:r>
              <a:rPr lang="en-US" b="1" dirty="0"/>
              <a:t>Define Shape Data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فیلد را انتخاب کرده، </a:t>
            </a:r>
            <a:r>
              <a:rPr lang="en-US" b="1" dirty="0"/>
              <a:t>Delete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را بزنید و </a:t>
            </a:r>
            <a:r>
              <a:rPr lang="en-US" b="1" dirty="0"/>
              <a:t>OK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کنید</a:t>
            </a:r>
          </a:p>
        </p:txBody>
      </p:sp>
    </p:spTree>
    <p:extLst>
      <p:ext uri="{BB962C8B-B14F-4D97-AF65-F5344CB8AC3E}">
        <p14:creationId xmlns:p14="http://schemas.microsoft.com/office/powerpoint/2010/main" val="289010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662B-F771-A058-6E9F-E4C8AEBB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7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لینک‌سازی دیتا از </a:t>
            </a:r>
            <a:r>
              <a:rPr lang="en-US" dirty="0"/>
              <a:t>Excel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به </a:t>
            </a:r>
            <a:r>
              <a:rPr lang="en-US" dirty="0"/>
              <a:t>Visio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8DC0-886D-6A28-3DE3-046AD7A7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66800"/>
            <a:ext cx="8596668" cy="4974563"/>
          </a:xfrm>
        </p:spPr>
        <p:txBody>
          <a:bodyPr/>
          <a:lstStyle/>
          <a:p>
            <a:pPr marL="0" indent="0" algn="r" rtl="1">
              <a:buNone/>
            </a:pPr>
            <a:r>
              <a:rPr lang="fa-IR" b="1" dirty="0"/>
              <a:t>تعریف:</a:t>
            </a:r>
            <a:endParaRPr lang="prs-AF" b="1" dirty="0"/>
          </a:p>
          <a:p>
            <a:pPr algn="r" rtl="1"/>
            <a:r>
              <a:rPr lang="fa-IR" dirty="0"/>
              <a:t>لینک‌سازی</a:t>
            </a:r>
            <a:r>
              <a:rPr lang="prs-AF" dirty="0"/>
              <a:t> (</a:t>
            </a:r>
            <a:r>
              <a:rPr lang="en-US" dirty="0"/>
              <a:t>Linking</a:t>
            </a:r>
            <a:r>
              <a:rPr lang="prs-AF" dirty="0"/>
              <a:t>) ب</a:t>
            </a:r>
            <a:r>
              <a:rPr lang="fa-IR" dirty="0"/>
              <a:t>ه معنای اتصال </a:t>
            </a:r>
            <a:r>
              <a:rPr lang="prs-AF" dirty="0"/>
              <a:t>معلومات</a:t>
            </a:r>
            <a:r>
              <a:rPr lang="fa-IR" dirty="0"/>
              <a:t> از فایل‌های بیرونی مانند </a:t>
            </a:r>
            <a:r>
              <a:rPr lang="en-US" dirty="0"/>
              <a:t>Excel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به اشکال</a:t>
            </a:r>
            <a:r>
              <a:rPr lang="prs-AF" dirty="0"/>
              <a:t> (</a:t>
            </a:r>
            <a:r>
              <a:rPr lang="en-US" dirty="0"/>
              <a:t>Shapes</a:t>
            </a:r>
            <a:r>
              <a:rPr lang="prs-AF" dirty="0"/>
              <a:t>)</a:t>
            </a:r>
            <a:r>
              <a:rPr lang="fa-IR" dirty="0"/>
              <a:t> داخل </a:t>
            </a:r>
            <a:r>
              <a:rPr lang="en-US" dirty="0"/>
              <a:t>Visio</a:t>
            </a:r>
            <a:r>
              <a:rPr lang="prs-AF" dirty="0"/>
              <a:t> </a:t>
            </a:r>
            <a:r>
              <a:rPr lang="en-US" dirty="0"/>
              <a:t> </a:t>
            </a:r>
            <a:r>
              <a:rPr lang="fa-IR" dirty="0"/>
              <a:t>است. این قابلیت باعث می‌شود معلومات </a:t>
            </a:r>
            <a:r>
              <a:rPr lang="ps-AF" dirty="0"/>
              <a:t>تخنیکی</a:t>
            </a:r>
            <a:r>
              <a:rPr lang="fa-IR" dirty="0"/>
              <a:t> مانند </a:t>
            </a:r>
            <a:r>
              <a:rPr lang="en-US" dirty="0"/>
              <a:t>IP، </a:t>
            </a:r>
            <a:r>
              <a:rPr lang="fa-IR" dirty="0"/>
              <a:t>نقش دستگاه، وضعیت</a:t>
            </a:r>
            <a:r>
              <a:rPr lang="ps-AF" dirty="0"/>
              <a:t> (</a:t>
            </a:r>
            <a:r>
              <a:rPr lang="en-US" dirty="0"/>
              <a:t>Status</a:t>
            </a:r>
            <a:r>
              <a:rPr lang="ps-AF" dirty="0"/>
              <a:t>) </a:t>
            </a:r>
            <a:r>
              <a:rPr lang="en-US" dirty="0"/>
              <a:t> </a:t>
            </a:r>
            <a:r>
              <a:rPr lang="fa-IR" dirty="0"/>
              <a:t>و سایر مشخصات، به‌صورت خودکار و دقیق داخل اشکال ذخیره شود.</a:t>
            </a:r>
            <a:endParaRPr lang="prs-AF" dirty="0"/>
          </a:p>
          <a:p>
            <a:pPr algn="r" rtl="1">
              <a:buNone/>
            </a:pPr>
            <a:r>
              <a:rPr lang="fa-IR" b="1" dirty="0"/>
              <a:t>اهداف لینک‌سازی:</a:t>
            </a:r>
            <a:endParaRPr lang="fa-IR" dirty="0"/>
          </a:p>
          <a:p>
            <a:pPr algn="r" rtl="1"/>
            <a:r>
              <a:rPr lang="fa-IR" dirty="0"/>
              <a:t>حذف وارد کردن دستی </a:t>
            </a:r>
            <a:r>
              <a:rPr lang="ps-AF" dirty="0"/>
              <a:t>(</a:t>
            </a:r>
            <a:r>
              <a:rPr lang="en-US" dirty="0"/>
              <a:t>Manual</a:t>
            </a:r>
            <a:r>
              <a:rPr lang="ps-AF" dirty="0"/>
              <a:t>) </a:t>
            </a:r>
            <a:r>
              <a:rPr lang="fa-IR" dirty="0"/>
              <a:t>معلومات برای هر شکل</a:t>
            </a:r>
          </a:p>
          <a:p>
            <a:pPr algn="r" rtl="1"/>
            <a:r>
              <a:rPr lang="fa-IR" dirty="0"/>
              <a:t>انتقال سریع و دقیق </a:t>
            </a:r>
            <a:r>
              <a:rPr lang="ps-AF" dirty="0"/>
              <a:t>دیتاهای</a:t>
            </a:r>
            <a:r>
              <a:rPr lang="fa-IR" dirty="0"/>
              <a:t> واقعی </a:t>
            </a:r>
            <a:r>
              <a:rPr lang="ps-AF" dirty="0"/>
              <a:t>(</a:t>
            </a:r>
            <a:r>
              <a:rPr lang="en-US" dirty="0"/>
              <a:t>Real Data</a:t>
            </a:r>
            <a:r>
              <a:rPr lang="ps-AF" dirty="0"/>
              <a:t>) </a:t>
            </a:r>
            <a:r>
              <a:rPr lang="fa-IR" dirty="0"/>
              <a:t>به دیاگرام</a:t>
            </a:r>
          </a:p>
          <a:p>
            <a:pPr algn="r" rtl="1"/>
            <a:r>
              <a:rPr lang="fa-IR" dirty="0"/>
              <a:t>ساخت دیاگرام‌های هوشمند </a:t>
            </a:r>
            <a:r>
              <a:rPr lang="ps-AF" dirty="0"/>
              <a:t>(</a:t>
            </a:r>
            <a:r>
              <a:rPr lang="en-US" dirty="0"/>
              <a:t>Smart Diagrams</a:t>
            </a:r>
            <a:r>
              <a:rPr lang="ps-AF" dirty="0"/>
              <a:t>) </a:t>
            </a:r>
            <a:r>
              <a:rPr lang="fa-IR" dirty="0"/>
              <a:t>برای تحلیل، مانیتورنگ و گزارش‌دهی</a:t>
            </a:r>
          </a:p>
          <a:p>
            <a:pPr algn="r" rtl="1"/>
            <a:r>
              <a:rPr lang="fa-IR" dirty="0"/>
              <a:t>همگام‌سازی </a:t>
            </a:r>
            <a:r>
              <a:rPr lang="ps-AF" dirty="0"/>
              <a:t>(</a:t>
            </a:r>
            <a:r>
              <a:rPr lang="en-US" dirty="0"/>
              <a:t>Sync</a:t>
            </a:r>
            <a:r>
              <a:rPr lang="ps-AF" dirty="0"/>
              <a:t>) </a:t>
            </a:r>
            <a:r>
              <a:rPr lang="fa-IR" dirty="0"/>
              <a:t>با </a:t>
            </a:r>
            <a:r>
              <a:rPr lang="en-US" dirty="0"/>
              <a:t>:Excel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هر تغییری در </a:t>
            </a:r>
            <a:r>
              <a:rPr lang="en-US" dirty="0"/>
              <a:t>Excel →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قابل‌نمایش در </a:t>
            </a:r>
            <a:r>
              <a:rPr lang="en-US" dirty="0"/>
              <a:t>Visio</a:t>
            </a:r>
          </a:p>
          <a:p>
            <a:pPr algn="r" rtl="1"/>
            <a:r>
              <a:rPr lang="fa-IR" dirty="0"/>
              <a:t>نمایش وضعیت دستگاه‌ها با رنگ، آیکن و متن </a:t>
            </a:r>
            <a:r>
              <a:rPr lang="ps-AF" dirty="0"/>
              <a:t>(</a:t>
            </a:r>
            <a:r>
              <a:rPr lang="en-US" dirty="0"/>
              <a:t>Data Graphics</a:t>
            </a:r>
            <a:r>
              <a:rPr lang="ps-AF" dirty="0"/>
              <a:t>)</a:t>
            </a:r>
            <a:endParaRPr lang="en-US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3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991D-6260-4AB9-2DF6-090660DF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ساختار و مراحل لینک‌سازی </a:t>
            </a:r>
            <a:r>
              <a:rPr lang="ps-AF" dirty="0"/>
              <a:t>دیتا ها</a:t>
            </a:r>
            <a:r>
              <a:rPr lang="fa-IR" dirty="0"/>
              <a:t> در </a:t>
            </a:r>
            <a:r>
              <a:rPr lang="en-US" dirty="0"/>
              <a:t>Visio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A08E-EE94-0BDC-3746-80CF35C9C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15560"/>
            <a:ext cx="8596668" cy="5121954"/>
          </a:xfrm>
        </p:spPr>
        <p:txBody>
          <a:bodyPr/>
          <a:lstStyle/>
          <a:p>
            <a:pPr algn="r" rtl="1">
              <a:buNone/>
            </a:pPr>
            <a:r>
              <a:rPr lang="fa-IR" b="1" dirty="0"/>
              <a:t>ساختار فایل </a:t>
            </a:r>
            <a:r>
              <a:rPr lang="en-US" b="1" dirty="0"/>
              <a:t>Excel</a:t>
            </a:r>
            <a:r>
              <a:rPr lang="ps-AF" b="1" dirty="0"/>
              <a:t>:</a:t>
            </a:r>
          </a:p>
          <a:p>
            <a:pPr algn="r" rtl="1"/>
            <a:r>
              <a:rPr lang="fa-IR" dirty="0"/>
              <a:t>ردیف اول = عنوان ستون‌ها </a:t>
            </a:r>
            <a:r>
              <a:rPr lang="ps-AF" dirty="0"/>
              <a:t>(</a:t>
            </a:r>
            <a:r>
              <a:rPr lang="en-US" dirty="0"/>
              <a:t>Header</a:t>
            </a:r>
            <a:r>
              <a:rPr lang="ps-AF" dirty="0"/>
              <a:t>)</a:t>
            </a:r>
            <a:endParaRPr lang="en-US" dirty="0"/>
          </a:p>
          <a:p>
            <a:pPr algn="r" rtl="1"/>
            <a:r>
              <a:rPr lang="fa-IR" dirty="0"/>
              <a:t>هر ردیف = یک دستگاه/شکل</a:t>
            </a:r>
          </a:p>
          <a:p>
            <a:pPr algn="r" rtl="1"/>
            <a:r>
              <a:rPr lang="fa-IR" dirty="0"/>
              <a:t>داشتن کلید یکتا </a:t>
            </a:r>
            <a:r>
              <a:rPr lang="en-US" dirty="0"/>
              <a:t>(Unique Identifier)</a:t>
            </a:r>
            <a:r>
              <a:rPr lang="ps-AF" dirty="0"/>
              <a:t> </a:t>
            </a:r>
            <a:r>
              <a:rPr lang="fa-IR" dirty="0"/>
              <a:t>برای تطبیق (مانند </a:t>
            </a:r>
            <a:r>
              <a:rPr lang="en-US" dirty="0"/>
              <a:t>Device Name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یا </a:t>
            </a:r>
            <a:r>
              <a:rPr lang="en-US" dirty="0"/>
              <a:t>ID</a:t>
            </a:r>
            <a:r>
              <a:rPr lang="ps-AF" dirty="0"/>
              <a:t>)</a:t>
            </a:r>
            <a:endParaRPr lang="en-US" dirty="0"/>
          </a:p>
          <a:p>
            <a:pPr algn="r" rtl="1">
              <a:buNone/>
            </a:pPr>
            <a:r>
              <a:rPr lang="fa-IR" b="1" dirty="0"/>
              <a:t>مراحل اجرا:</a:t>
            </a:r>
            <a:endParaRPr lang="fa-IR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تب </a:t>
            </a:r>
            <a:r>
              <a:rPr lang="en-US" b="1" dirty="0"/>
              <a:t>Data → Custom Imports / Quick Imports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fa-IR" dirty="0"/>
              <a:t>انتخاب فایل </a:t>
            </a:r>
            <a:r>
              <a:rPr lang="en-US" dirty="0"/>
              <a:t>Excel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و شیت مورد نظر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نمایش دیتا در پنجره </a:t>
            </a:r>
            <a:r>
              <a:rPr lang="en-US" dirty="0"/>
              <a:t>External Data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اتصال </a:t>
            </a:r>
            <a:r>
              <a:rPr lang="ps-AF" dirty="0"/>
              <a:t>دیتا ها</a:t>
            </a:r>
            <a:r>
              <a:rPr lang="fa-IR" dirty="0"/>
              <a:t> به اشکال به دو روش:</a:t>
            </a:r>
          </a:p>
          <a:p>
            <a:pPr marL="742950" lvl="1" indent="-285750" algn="r" rtl="1">
              <a:buFont typeface="+mj-lt"/>
              <a:buAutoNum type="arabicPeriod"/>
            </a:pPr>
            <a:r>
              <a:rPr lang="en-US" b="1" dirty="0"/>
              <a:t>Drag &amp; Drop (External Data)</a:t>
            </a:r>
            <a:r>
              <a:rPr lang="ps-AF" b="1" dirty="0"/>
              <a:t> </a:t>
            </a:r>
            <a:r>
              <a:rPr lang="en-US" b="1" dirty="0"/>
              <a:t>:</a:t>
            </a:r>
            <a:r>
              <a:rPr lang="ps-AF" dirty="0"/>
              <a:t> </a:t>
            </a:r>
            <a:r>
              <a:rPr lang="fa-IR" dirty="0"/>
              <a:t>کشیدن هر ردیف روی شکل</a:t>
            </a:r>
          </a:p>
          <a:p>
            <a:pPr marL="742950" lvl="1" indent="-285750" algn="r" rtl="1">
              <a:buFont typeface="+mj-lt"/>
              <a:buAutoNum type="arabicPeriod"/>
            </a:pPr>
            <a:r>
              <a:rPr lang="en-US" b="1" dirty="0"/>
              <a:t>Auto Link (Link Data)</a:t>
            </a:r>
            <a:r>
              <a:rPr lang="en-US" dirty="0"/>
              <a:t> </a:t>
            </a:r>
            <a:r>
              <a:rPr lang="ps-AF" dirty="0"/>
              <a:t> : </a:t>
            </a:r>
            <a:r>
              <a:rPr lang="fa-IR" dirty="0"/>
              <a:t>لینک خودکار با تطبیق فیلد (مانند </a:t>
            </a:r>
            <a:r>
              <a:rPr lang="en-US" dirty="0"/>
              <a:t>Device Name</a:t>
            </a:r>
            <a:r>
              <a:rPr lang="ps-AF" dirty="0"/>
              <a:t>)</a:t>
            </a:r>
            <a:endParaRPr lang="en-US" dirty="0"/>
          </a:p>
          <a:p>
            <a:pPr marL="457200" lvl="1" indent="0" algn="r" rtl="1">
              <a:buNone/>
            </a:pPr>
            <a:r>
              <a:rPr lang="ps-AF" dirty="0"/>
              <a:t>استفاده از </a:t>
            </a:r>
            <a:r>
              <a:rPr lang="en-US" dirty="0"/>
              <a:t>All Refresh</a:t>
            </a:r>
            <a:r>
              <a:rPr lang="ps-AF" dirty="0"/>
              <a:t> برای به روز رسانی دیتا های لینک شده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84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F9FF-7A3E-49B5-E605-7F0E2C0B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D4CF-7622-58C6-817F-0358F118D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0486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معرفی </a:t>
            </a:r>
            <a:r>
              <a:rPr lang="en-US" dirty="0"/>
              <a:t>Data Graphics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در </a:t>
            </a:r>
            <a:r>
              <a:rPr lang="en-US" dirty="0"/>
              <a:t>Visio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C228-9C7A-650E-AE65-496B87FD1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5789"/>
            <a:ext cx="8596668" cy="5121954"/>
          </a:xfrm>
        </p:spPr>
        <p:txBody>
          <a:bodyPr/>
          <a:lstStyle/>
          <a:p>
            <a:pPr algn="r" rtl="1">
              <a:buNone/>
            </a:pPr>
            <a:r>
              <a:rPr lang="fa-IR" b="1" dirty="0"/>
              <a:t>تعریف:</a:t>
            </a:r>
            <a:endParaRPr lang="ps-AF" b="1" dirty="0"/>
          </a:p>
          <a:p>
            <a:pPr algn="r" rtl="1"/>
            <a:r>
              <a:rPr lang="en-US" dirty="0"/>
              <a:t>Data Graphics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در </a:t>
            </a:r>
            <a:r>
              <a:rPr lang="en-US" dirty="0"/>
              <a:t>Visio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ابزاری برای نمایش تصویری فیلدهای </a:t>
            </a:r>
            <a:r>
              <a:rPr lang="en-US" dirty="0"/>
              <a:t>Shape Data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است.</a:t>
            </a:r>
            <a:br>
              <a:rPr lang="fa-IR" dirty="0"/>
            </a:br>
            <a:r>
              <a:rPr lang="fa-IR" dirty="0"/>
              <a:t>به</a:t>
            </a:r>
            <a:r>
              <a:rPr lang="ps-AF" dirty="0"/>
              <a:t> </a:t>
            </a:r>
            <a:r>
              <a:rPr lang="fa-IR" dirty="0"/>
              <a:t>‌جای باز کردن </a:t>
            </a:r>
            <a:r>
              <a:rPr lang="ps-AF" dirty="0"/>
              <a:t>معلومات</a:t>
            </a:r>
            <a:r>
              <a:rPr lang="fa-IR" dirty="0"/>
              <a:t> هر شکل، می‌توان مقادیر </a:t>
            </a:r>
            <a:r>
              <a:rPr lang="ps-AF" dirty="0"/>
              <a:t>دیتا ها</a:t>
            </a:r>
            <a:r>
              <a:rPr lang="fa-IR" dirty="0"/>
              <a:t> را مستقیم و بصری با رنگ، آیکن، نوار یا متن نمایش داد.</a:t>
            </a:r>
          </a:p>
          <a:p>
            <a:pPr algn="r" rtl="1">
              <a:buNone/>
            </a:pPr>
            <a:r>
              <a:rPr lang="fa-IR" b="1" dirty="0"/>
              <a:t>هدف اصلی:</a:t>
            </a:r>
            <a:endParaRPr lang="fa-IR" dirty="0"/>
          </a:p>
          <a:p>
            <a:pPr algn="r" rtl="1"/>
            <a:r>
              <a:rPr lang="fa-IR" dirty="0"/>
              <a:t>افزایش خوانایی دیاگرام‌های </a:t>
            </a:r>
            <a:r>
              <a:rPr lang="ps-AF" dirty="0"/>
              <a:t>تخنیکی</a:t>
            </a:r>
            <a:endParaRPr lang="fa-IR" dirty="0"/>
          </a:p>
          <a:p>
            <a:pPr algn="r" rtl="1"/>
            <a:r>
              <a:rPr lang="fa-IR" dirty="0"/>
              <a:t>تحلیل و تشخیص سریع وضعیت دستگاه‌ها</a:t>
            </a:r>
          </a:p>
          <a:p>
            <a:pPr algn="r" rtl="1"/>
            <a:r>
              <a:rPr lang="fa-IR" dirty="0"/>
              <a:t>کمک به مانیتورنگ و گزارش‌دهی تصویری در محیط‌های شبکه و </a:t>
            </a:r>
            <a:r>
              <a:rPr lang="en-US" dirty="0"/>
              <a:t>IT</a:t>
            </a:r>
          </a:p>
          <a:p>
            <a:pPr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862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E164-5FA2-FE97-7976-FEC9A98F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اجزای اصلی </a:t>
            </a:r>
            <a:r>
              <a:rPr lang="en-US" dirty="0"/>
              <a:t>Data Graphics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و کاربرد آن‌ها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C659-0E1A-F922-53A0-C071069C0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6090"/>
            <a:ext cx="8596668" cy="3617281"/>
          </a:xfrm>
        </p:spPr>
        <p:txBody>
          <a:bodyPr/>
          <a:lstStyle/>
          <a:p>
            <a:pPr algn="r" rtl="1">
              <a:buNone/>
            </a:pPr>
            <a:r>
              <a:rPr lang="fa-IR" b="1" dirty="0"/>
              <a:t>انواع نمایش گرافیکی:</a:t>
            </a:r>
            <a:endParaRPr lang="fa-IR" dirty="0"/>
          </a:p>
          <a:p>
            <a:pPr algn="r" rtl="1">
              <a:buFont typeface="+mj-lt"/>
              <a:buAutoNum type="arabicPeriod"/>
            </a:pPr>
            <a:r>
              <a:rPr lang="en-US" b="1" dirty="0"/>
              <a:t>Icon Sets</a:t>
            </a:r>
            <a:r>
              <a:rPr lang="prs-AF" b="1" dirty="0"/>
              <a:t>: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نمایش وضعیت با نمادهای گرافیکی (مثلاً ✔️، </a:t>
            </a:r>
            <a:r>
              <a:rPr lang="en-US" dirty="0"/>
              <a:t>❌، ⚠️</a:t>
            </a:r>
            <a:r>
              <a:rPr lang="prs-AF" dirty="0"/>
              <a:t>)</a:t>
            </a:r>
            <a:endParaRPr lang="en-US" dirty="0"/>
          </a:p>
          <a:p>
            <a:pPr algn="r" rtl="1">
              <a:buFont typeface="+mj-lt"/>
              <a:buAutoNum type="arabicPeriod"/>
            </a:pPr>
            <a:r>
              <a:rPr lang="en-US" b="1" dirty="0"/>
              <a:t>Color by Value</a:t>
            </a:r>
            <a:r>
              <a:rPr lang="prs-AF" b="1" dirty="0"/>
              <a:t>: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اختصاص رنگ به مقادیر مختلف (مثلاً نقش‌ها یا نواحی)</a:t>
            </a:r>
          </a:p>
          <a:p>
            <a:pPr algn="r" rtl="1">
              <a:buFont typeface="+mj-lt"/>
              <a:buAutoNum type="arabicPeriod"/>
            </a:pPr>
            <a:r>
              <a:rPr lang="en-US" b="1" dirty="0"/>
              <a:t>Data Bars</a:t>
            </a:r>
            <a:r>
              <a:rPr lang="ps-AF" dirty="0"/>
              <a:t> </a:t>
            </a:r>
            <a:r>
              <a:rPr lang="prs-AF" dirty="0"/>
              <a:t>:</a:t>
            </a:r>
            <a:r>
              <a:rPr lang="en-US" dirty="0"/>
              <a:t> </a:t>
            </a:r>
            <a:r>
              <a:rPr lang="fa-IR" dirty="0"/>
              <a:t>نمایش عدد به‌صورت نوار (مثلاً </a:t>
            </a:r>
            <a:r>
              <a:rPr lang="prs-AF" dirty="0"/>
              <a:t>لود</a:t>
            </a:r>
            <a:r>
              <a:rPr lang="fa-IR" dirty="0"/>
              <a:t> ترافیک یا </a:t>
            </a:r>
            <a:r>
              <a:rPr lang="prs-AF" dirty="0"/>
              <a:t>فیصدی</a:t>
            </a:r>
            <a:r>
              <a:rPr lang="fa-IR" dirty="0"/>
              <a:t> استفاده)</a:t>
            </a:r>
          </a:p>
          <a:p>
            <a:pPr algn="r" rtl="1">
              <a:buFont typeface="+mj-lt"/>
              <a:buAutoNum type="arabicPeriod"/>
            </a:pPr>
            <a:r>
              <a:rPr lang="en-US" b="1" dirty="0"/>
              <a:t>Text Callouts</a:t>
            </a:r>
            <a:r>
              <a:rPr lang="prs-AF" b="1" dirty="0"/>
              <a:t>: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نمایش مقدار فیلد در کنار شکل به‌صورت متن</a:t>
            </a:r>
          </a:p>
          <a:p>
            <a:pPr algn="r" rtl="1">
              <a:buNone/>
            </a:pPr>
            <a:r>
              <a:rPr lang="fa-IR" b="1" dirty="0"/>
              <a:t>کاربردهای رایج:</a:t>
            </a:r>
            <a:endParaRPr lang="fa-IR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نمایش وضعیت عملیاتی تجهیزات </a:t>
            </a:r>
            <a:r>
              <a:rPr lang="en-US" dirty="0"/>
              <a:t>Active, Down)</a:t>
            </a:r>
            <a:r>
              <a:rPr lang="prs-AF" dirty="0"/>
              <a:t>)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مانیتورنگ </a:t>
            </a:r>
            <a:r>
              <a:rPr lang="prs-AF" dirty="0"/>
              <a:t>لود</a:t>
            </a:r>
            <a:r>
              <a:rPr lang="fa-IR" dirty="0"/>
              <a:t> شبکه </a:t>
            </a:r>
            <a:r>
              <a:rPr lang="en-US" dirty="0"/>
              <a:t>Load %)</a:t>
            </a:r>
            <a:r>
              <a:rPr lang="prs-AF" dirty="0"/>
              <a:t>)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نمایش نقش منطقی هر دستگاه</a:t>
            </a:r>
            <a:r>
              <a:rPr lang="prs-AF" dirty="0"/>
              <a:t> </a:t>
            </a:r>
            <a:r>
              <a:rPr lang="en-US" dirty="0"/>
              <a:t>Switch, Server, Router)</a:t>
            </a:r>
            <a:r>
              <a:rPr lang="prs-AF" dirty="0"/>
              <a:t>)</a:t>
            </a:r>
            <a:endParaRPr lang="en-US" dirty="0"/>
          </a:p>
          <a:p>
            <a:pPr algn="r" rt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FF155-B9C7-45F1-49C9-CF729CA5A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314" y="5484250"/>
            <a:ext cx="2721429" cy="1203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3F13B2-41AB-C273-F671-76E2108B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43" y="5574524"/>
            <a:ext cx="2190873" cy="1023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2E3234-8F1A-285A-1960-F1EFC7DF3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445" y="5421932"/>
            <a:ext cx="2808514" cy="1436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2D00B0-BA62-7E79-1983-73AE27027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72" y="5449727"/>
            <a:ext cx="2808514" cy="10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77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4514-31CA-C5B0-60CB-07667D18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اعمال </a:t>
            </a:r>
            <a:r>
              <a:rPr lang="en-US" dirty="0"/>
              <a:t>Data Graphics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به شکل‌ها در </a:t>
            </a:r>
            <a:r>
              <a:rPr lang="en-US" dirty="0"/>
              <a:t>Visio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71ABE-073C-D7C1-E257-B8168B13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191" y="974046"/>
            <a:ext cx="8596668" cy="5481183"/>
          </a:xfrm>
        </p:spPr>
        <p:txBody>
          <a:bodyPr>
            <a:normAutofit fontScale="92500" lnSpcReduction="10000"/>
          </a:bodyPr>
          <a:lstStyle/>
          <a:p>
            <a:pPr algn="r" rtl="1">
              <a:buNone/>
            </a:pPr>
            <a:r>
              <a:rPr lang="ps-AF" b="1" dirty="0"/>
              <a:t>مراحل اعمال دیتا</a:t>
            </a:r>
            <a:r>
              <a:rPr lang="prs-AF" b="1" dirty="0"/>
              <a:t> گرافیک به شکل ها:</a:t>
            </a:r>
            <a:endParaRPr lang="ps-AF" b="1" dirty="0"/>
          </a:p>
          <a:p>
            <a:pPr algn="r" rtl="1"/>
            <a:r>
              <a:rPr lang="fa-IR" dirty="0"/>
              <a:t> </a:t>
            </a:r>
            <a:r>
              <a:rPr lang="fa-IR" b="1" dirty="0"/>
              <a:t>انتخاب اشکال:</a:t>
            </a:r>
            <a:r>
              <a:rPr lang="prs-AF" b="1" dirty="0"/>
              <a:t> </a:t>
            </a:r>
            <a:r>
              <a:rPr lang="fa-IR" dirty="0"/>
              <a:t>شکل‌هایی را انتخاب کنید که دارای </a:t>
            </a:r>
            <a:r>
              <a:rPr lang="prs-AF" dirty="0"/>
              <a:t>دیتا</a:t>
            </a:r>
            <a:r>
              <a:rPr lang="fa-IR" dirty="0"/>
              <a:t> هستند (مثلاً </a:t>
            </a:r>
            <a:r>
              <a:rPr lang="en-US" dirty="0"/>
              <a:t>Router، Server</a:t>
            </a:r>
            <a:r>
              <a:rPr lang="prs-AF" dirty="0"/>
              <a:t>)</a:t>
            </a:r>
          </a:p>
          <a:p>
            <a:pPr algn="r" rtl="1"/>
            <a:r>
              <a:rPr lang="fa-IR" b="1" dirty="0"/>
              <a:t>باز کردن تب </a:t>
            </a:r>
            <a:r>
              <a:rPr lang="en-US" b="1" dirty="0"/>
              <a:t>Data</a:t>
            </a:r>
            <a:r>
              <a:rPr lang="prs-AF" b="1" dirty="0"/>
              <a:t> : </a:t>
            </a:r>
            <a:r>
              <a:rPr lang="fa-IR" dirty="0"/>
              <a:t>از نوار بالا، وارد تب </a:t>
            </a:r>
            <a:r>
              <a:rPr lang="en-US" b="1" dirty="0"/>
              <a:t>Data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شوید</a:t>
            </a:r>
          </a:p>
          <a:p>
            <a:pPr algn="r" rtl="1"/>
            <a:r>
              <a:rPr lang="fa-IR" b="1" dirty="0"/>
              <a:t>کلیک روی </a:t>
            </a:r>
            <a:r>
              <a:rPr lang="en-US" b="1" dirty="0"/>
              <a:t>Advance Data Graphic</a:t>
            </a:r>
            <a:r>
              <a:rPr lang="ps-AF" b="1" dirty="0"/>
              <a:t> : </a:t>
            </a:r>
            <a:r>
              <a:rPr lang="fa-IR" dirty="0"/>
              <a:t>دکمه </a:t>
            </a:r>
            <a:r>
              <a:rPr lang="en-US" dirty="0"/>
              <a:t> Advance Data Graphic -&gt; create new data graphic </a:t>
            </a:r>
            <a:r>
              <a:rPr lang="prs-AF" dirty="0"/>
              <a:t> </a:t>
            </a:r>
            <a:r>
              <a:rPr lang="fa-IR" dirty="0"/>
              <a:t>را فشار دهید</a:t>
            </a:r>
          </a:p>
          <a:p>
            <a:pPr algn="r" rtl="1"/>
            <a:r>
              <a:rPr lang="fa-IR" b="1" dirty="0"/>
              <a:t>افزودن </a:t>
            </a:r>
            <a:r>
              <a:rPr lang="en-US" b="1" dirty="0"/>
              <a:t>Graphic Item:</a:t>
            </a:r>
            <a:br>
              <a:rPr lang="en-US" dirty="0"/>
            </a:br>
            <a:r>
              <a:rPr lang="fa-IR" dirty="0"/>
              <a:t>در پنجره باز شده: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روی </a:t>
            </a:r>
            <a:r>
              <a:rPr lang="en-US" b="1" dirty="0"/>
              <a:t>New Item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کلیک کنید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فیلد مورد نظر را انتخاب کنید (مثلاً </a:t>
            </a:r>
            <a:r>
              <a:rPr lang="en-US" dirty="0"/>
              <a:t>Status</a:t>
            </a:r>
            <a:r>
              <a:rPr lang="prs-AF" dirty="0"/>
              <a:t>)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نوع نمایش را انتخاب کنید: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Icon Set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برای نمایش </a:t>
            </a:r>
            <a:r>
              <a:rPr lang="en-US" dirty="0"/>
              <a:t>Active</a:t>
            </a:r>
            <a:r>
              <a:rPr lang="prs-AF" dirty="0"/>
              <a:t> </a:t>
            </a:r>
            <a:r>
              <a:rPr lang="en-US" dirty="0"/>
              <a:t>, Inactive, Down </a:t>
            </a:r>
            <a:r>
              <a:rPr lang="fa-IR" dirty="0"/>
              <a:t>با رنگ‌ها و نمادها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Text Callout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برای نمایش آی‌پی یا نام دستگاه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Color by Value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برای نقش‌ها (مثلاً </a:t>
            </a:r>
            <a:r>
              <a:rPr lang="en-US" dirty="0"/>
              <a:t>Server</a:t>
            </a:r>
            <a:r>
              <a:rPr lang="prs-AF" dirty="0"/>
              <a:t> </a:t>
            </a:r>
            <a:r>
              <a:rPr lang="en-US" dirty="0"/>
              <a:t> = </a:t>
            </a:r>
            <a:r>
              <a:rPr lang="fa-IR" dirty="0"/>
              <a:t>نارنجی، </a:t>
            </a:r>
            <a:r>
              <a:rPr lang="en-US" dirty="0"/>
              <a:t>Router</a:t>
            </a:r>
            <a:r>
              <a:rPr lang="prs-AF" dirty="0"/>
              <a:t> </a:t>
            </a:r>
            <a:r>
              <a:rPr lang="en-US" dirty="0"/>
              <a:t> = </a:t>
            </a:r>
            <a:r>
              <a:rPr lang="fa-IR" dirty="0"/>
              <a:t>آبی)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Data Bar</a:t>
            </a:r>
            <a:r>
              <a:rPr lang="prs-AF" b="1" dirty="0"/>
              <a:t> </a:t>
            </a:r>
            <a:r>
              <a:rPr lang="en-US" dirty="0"/>
              <a:t> </a:t>
            </a:r>
            <a:r>
              <a:rPr lang="fa-IR" dirty="0"/>
              <a:t>برای مقادیر عددی (مثلاً </a:t>
            </a:r>
            <a:r>
              <a:rPr lang="en-US" dirty="0"/>
              <a:t>Load %</a:t>
            </a:r>
            <a:r>
              <a:rPr lang="prs-AF" dirty="0"/>
              <a:t>)</a:t>
            </a:r>
            <a:endParaRPr lang="en-US" dirty="0"/>
          </a:p>
          <a:p>
            <a:pPr algn="r" rtl="1"/>
            <a:r>
              <a:rPr lang="fa-IR" b="1" dirty="0"/>
              <a:t>ذخیره تنظیمات:</a:t>
            </a:r>
            <a:br>
              <a:rPr lang="fa-IR" dirty="0"/>
            </a:br>
            <a:r>
              <a:rPr lang="fa-IR" dirty="0"/>
              <a:t>بعد از افزودن آیتم‌ها، روی </a:t>
            </a:r>
            <a:r>
              <a:rPr lang="en-US" dirty="0"/>
              <a:t>OK </a:t>
            </a:r>
            <a:r>
              <a:rPr lang="fa-IR" dirty="0"/>
              <a:t>کلیک کنید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6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41A1-CAB8-F8FE-548D-76AA4458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200" dirty="0"/>
              <a:t>فرمت‌گذاری شرطی (</a:t>
            </a:r>
            <a:r>
              <a:rPr lang="en-US" sz="3200" dirty="0"/>
              <a:t>Conditional Formatting</a:t>
            </a:r>
            <a:r>
              <a:rPr lang="ps-AF" sz="3200" dirty="0"/>
              <a:t>) </a:t>
            </a:r>
            <a:r>
              <a:rPr lang="en-US" sz="3200" dirty="0"/>
              <a:t> </a:t>
            </a:r>
            <a:r>
              <a:rPr lang="fa-IR" sz="3200" dirty="0"/>
              <a:t>در </a:t>
            </a:r>
            <a:r>
              <a:rPr lang="en-US" sz="3200" dirty="0"/>
              <a:t>Data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9469-B932-1286-DA23-11E247B67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sz="2000" b="1" dirty="0"/>
              <a:t>تعریف:</a:t>
            </a:r>
            <a:endParaRPr lang="ps-AF" sz="2000" dirty="0"/>
          </a:p>
          <a:p>
            <a:pPr algn="r" rtl="1"/>
            <a:r>
              <a:rPr lang="fa-IR" sz="2000" dirty="0"/>
              <a:t>فرمت‌گذاری شرطی قابلیتی در </a:t>
            </a:r>
            <a:r>
              <a:rPr lang="en-US" sz="2000" dirty="0"/>
              <a:t>Visio</a:t>
            </a:r>
            <a:r>
              <a:rPr lang="ps-AF" sz="2000" dirty="0"/>
              <a:t> </a:t>
            </a:r>
            <a:r>
              <a:rPr lang="en-US" sz="2000" dirty="0"/>
              <a:t> </a:t>
            </a:r>
            <a:r>
              <a:rPr lang="fa-IR" sz="2000" dirty="0"/>
              <a:t>است که به شما امکان می‌دهد نمایش گرافیکی (رنگ، آیکن، نوار و غیره) را بر اساس مقدار یک فیلد </a:t>
            </a:r>
            <a:r>
              <a:rPr lang="ps-AF" sz="2000" dirty="0"/>
              <a:t>دیتا</a:t>
            </a:r>
            <a:r>
              <a:rPr lang="fa-IR" sz="2000" dirty="0"/>
              <a:t> به‌طور خودکار تغییر دهید.</a:t>
            </a:r>
            <a:endParaRPr lang="ps-AF" sz="2000" dirty="0"/>
          </a:p>
          <a:p>
            <a:pPr algn="r" rtl="1">
              <a:buNone/>
            </a:pPr>
            <a:r>
              <a:rPr lang="fa-IR" sz="2000" b="1" dirty="0"/>
              <a:t>هدف استفاده:</a:t>
            </a:r>
          </a:p>
          <a:p>
            <a:pPr algn="r" rtl="1"/>
            <a:r>
              <a:rPr lang="fa-IR" sz="2000" dirty="0"/>
              <a:t>هشداردهی خودکار براساس وضعیت یا عدد</a:t>
            </a:r>
          </a:p>
          <a:p>
            <a:pPr algn="r" rtl="1"/>
            <a:r>
              <a:rPr lang="fa-IR" sz="2000" dirty="0"/>
              <a:t>بهبود تحلیل سریع دیاگرام</a:t>
            </a:r>
          </a:p>
          <a:p>
            <a:pPr algn="r" rtl="1"/>
            <a:r>
              <a:rPr lang="fa-IR" sz="2000" dirty="0"/>
              <a:t>تبدیل دیاگرام به ابزار مانیتورنگ بصری</a:t>
            </a:r>
          </a:p>
        </p:txBody>
      </p:sp>
    </p:spTree>
    <p:extLst>
      <p:ext uri="{BB962C8B-B14F-4D97-AF65-F5344CB8AC3E}">
        <p14:creationId xmlns:p14="http://schemas.microsoft.com/office/powerpoint/2010/main" val="3592134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3D747-D0FC-0820-AF14-CE5703DC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474D-1181-4AA4-4B5C-3075634F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200" dirty="0"/>
              <a:t>فرمت‌گذاری شرطی (</a:t>
            </a:r>
            <a:r>
              <a:rPr lang="en-US" sz="3200" dirty="0"/>
              <a:t>Conditional Formatting</a:t>
            </a:r>
            <a:r>
              <a:rPr lang="ps-AF" sz="3200" dirty="0"/>
              <a:t>) </a:t>
            </a:r>
            <a:r>
              <a:rPr lang="en-US" sz="3200" dirty="0"/>
              <a:t> </a:t>
            </a:r>
            <a:r>
              <a:rPr lang="fa-IR" sz="3200" dirty="0"/>
              <a:t>در </a:t>
            </a:r>
            <a:r>
              <a:rPr lang="en-US" sz="3200" dirty="0"/>
              <a:t>Data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30C73-8A27-1EFA-9027-4B48BCDF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4828040"/>
          </a:xfrm>
        </p:spPr>
        <p:txBody>
          <a:bodyPr>
            <a:normAutofit/>
          </a:bodyPr>
          <a:lstStyle/>
          <a:p>
            <a:pPr algn="r" rtl="1">
              <a:buNone/>
            </a:pPr>
            <a:r>
              <a:rPr lang="fa-IR" sz="2000" b="1" dirty="0"/>
              <a:t>مراحل تنظیم:</a:t>
            </a:r>
          </a:p>
          <a:p>
            <a:pPr algn="r" rtl="1"/>
            <a:r>
              <a:rPr lang="fa-IR" sz="2000" dirty="0"/>
              <a:t>انتخاب شکل یا گروهی از اشکال</a:t>
            </a:r>
          </a:p>
          <a:p>
            <a:pPr algn="r" rtl="1"/>
            <a:r>
              <a:rPr lang="fa-IR" sz="2000" dirty="0"/>
              <a:t>رفتن به تب </a:t>
            </a:r>
            <a:r>
              <a:rPr lang="en-US" sz="2000" b="1" dirty="0"/>
              <a:t>Data → Advance Data Graphics</a:t>
            </a:r>
            <a:endParaRPr lang="en-US" sz="2000" dirty="0"/>
          </a:p>
          <a:p>
            <a:pPr algn="r" rtl="1"/>
            <a:r>
              <a:rPr lang="fa-IR" sz="2000" dirty="0"/>
              <a:t>کلیک بر </a:t>
            </a:r>
            <a:r>
              <a:rPr lang="en-US" sz="2000" b="1" dirty="0"/>
              <a:t>Edit Data Graphic</a:t>
            </a:r>
            <a:endParaRPr lang="en-US" sz="2000" dirty="0"/>
          </a:p>
          <a:p>
            <a:pPr algn="r" rtl="1"/>
            <a:r>
              <a:rPr lang="fa-IR" sz="2000" dirty="0"/>
              <a:t>انتخاب یک </a:t>
            </a:r>
            <a:r>
              <a:rPr lang="en-US" sz="2000" dirty="0"/>
              <a:t> Graphic Item</a:t>
            </a:r>
            <a:r>
              <a:rPr lang="fa-IR" sz="2000" dirty="0"/>
              <a:t>مثلاً </a:t>
            </a:r>
            <a:r>
              <a:rPr lang="en-US" sz="2000" dirty="0"/>
              <a:t>Status</a:t>
            </a:r>
            <a:r>
              <a:rPr lang="prs-AF" sz="2000" dirty="0"/>
              <a:t> </a:t>
            </a:r>
            <a:r>
              <a:rPr lang="en-US" sz="2000" dirty="0"/>
              <a:t> </a:t>
            </a:r>
            <a:r>
              <a:rPr lang="fa-IR" sz="2000" dirty="0"/>
              <a:t>یا </a:t>
            </a:r>
            <a:r>
              <a:rPr lang="en-US" sz="2000" dirty="0"/>
              <a:t>Load</a:t>
            </a:r>
          </a:p>
          <a:p>
            <a:pPr algn="r" rtl="1"/>
            <a:r>
              <a:rPr lang="fa-IR" sz="2000" dirty="0"/>
              <a:t>در بخش </a:t>
            </a:r>
            <a:r>
              <a:rPr lang="en-US" sz="2000" dirty="0"/>
              <a:t>Formatting Rule</a:t>
            </a:r>
            <a:r>
              <a:rPr lang="prs-AF" sz="2000" dirty="0"/>
              <a:t>: </a:t>
            </a:r>
            <a:r>
              <a:rPr lang="en-US" sz="2000" dirty="0"/>
              <a:t> </a:t>
            </a:r>
            <a:r>
              <a:rPr lang="fa-IR" sz="2000" dirty="0"/>
              <a:t>تعریف شرط (مثلاً </a:t>
            </a:r>
            <a:r>
              <a:rPr lang="en-US" sz="2000" dirty="0"/>
              <a:t>If Load &gt; 80%</a:t>
            </a:r>
            <a:r>
              <a:rPr lang="prs-AF" sz="2000" dirty="0"/>
              <a:t>)</a:t>
            </a:r>
            <a:endParaRPr lang="en-US" sz="2000" dirty="0"/>
          </a:p>
          <a:p>
            <a:pPr algn="r" rtl="1"/>
            <a:r>
              <a:rPr lang="fa-IR" sz="2000" dirty="0"/>
              <a:t>انتخاب نمایش: تغییر رنگ، افزودن آیکن، یا نوار هشدار</a:t>
            </a:r>
            <a:endParaRPr lang="prs-AF" sz="2000" dirty="0"/>
          </a:p>
          <a:p>
            <a:pPr algn="r" rtl="1"/>
            <a:endParaRPr lang="fa-IR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45EF07-AA02-E973-557C-F9F3C8B14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254191"/>
              </p:ext>
            </p:extLst>
          </p:nvPr>
        </p:nvGraphicFramePr>
        <p:xfrm>
          <a:off x="852035" y="5151120"/>
          <a:ext cx="8596311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63161643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28985711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112552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a-IR"/>
                        <a:t>فیلد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a-IR"/>
                        <a:t>شرط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a-IR"/>
                        <a:t>نمایش گرافیکی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16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=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a-IR"/>
                        <a:t>آیکن </a:t>
                      </a:r>
                      <a:r>
                        <a:rPr lang="en-US"/>
                        <a:t>❌ </a:t>
                      </a:r>
                      <a:r>
                        <a:rPr lang="fa-IR"/>
                        <a:t>یا رنگ قرمز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402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Load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&gt; 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a-IR" dirty="0"/>
                        <a:t>آیکن ⚠️ یا نوار زرد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20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585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0BBC3A-107B-AE9C-AEF0-DCB399B4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pPr algn="r"/>
            <a:r>
              <a:rPr lang="ps-AF" dirty="0"/>
              <a:t>کار عملی (طراحی دیا</a:t>
            </a:r>
            <a:r>
              <a:rPr lang="prs-AF" dirty="0"/>
              <a:t>گ</a:t>
            </a:r>
            <a:r>
              <a:rPr lang="ps-AF" dirty="0"/>
              <a:t>رام شبکه) </a:t>
            </a:r>
            <a:br>
              <a:rPr lang="ps-AF" dirty="0"/>
            </a:br>
            <a:r>
              <a:rPr lang="fa-IR" dirty="0"/>
              <a:t>سناریوی عملی – تطبیق مفاهیم روز </a:t>
            </a:r>
            <a:r>
              <a:rPr lang="ps-AF" dirty="0"/>
              <a:t>چهارم</a:t>
            </a:r>
            <a:endParaRPr lang="en-US" dirty="0"/>
          </a:p>
        </p:txBody>
      </p:sp>
      <p:pic>
        <p:nvPicPr>
          <p:cNvPr id="5" name="Picture 4" descr="A diagram of a cloud computing network&#10;&#10;AI-generated content may be incorrect.">
            <a:extLst>
              <a:ext uri="{FF2B5EF4-FFF2-40B4-BE49-F238E27FC236}">
                <a16:creationId xmlns:a16="http://schemas.microsoft.com/office/drawing/2014/main" id="{8C141FD0-E5E2-6E97-B58A-A33CB12D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r="2277" b="3"/>
          <a:stretch>
            <a:fillRect/>
          </a:stretch>
        </p:blipFill>
        <p:spPr>
          <a:xfrm>
            <a:off x="817474" y="2159331"/>
            <a:ext cx="2915973" cy="20873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E1DE-0981-DC40-9993-03697AC1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160" y="2160589"/>
            <a:ext cx="5207839" cy="388077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سناریو آموزشی– طراحی شبکه داخلی (</a:t>
            </a:r>
            <a:r>
              <a:rPr lang="en-US" sz="2000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LAN</a:t>
            </a: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) برای یک اداره متشکل از </a:t>
            </a:r>
            <a:r>
              <a:rPr lang="ps-AF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دیپارتمنت های </a:t>
            </a:r>
            <a:r>
              <a:rPr lang="en-US" sz="2000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IT</a:t>
            </a: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، مالی و منابع </a:t>
            </a:r>
            <a:r>
              <a:rPr lang="ps-AF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بشری</a:t>
            </a:r>
          </a:p>
          <a:p>
            <a:pPr marL="0" indent="0" algn="r" rtl="1">
              <a:lnSpc>
                <a:spcPct val="90000"/>
              </a:lnSpc>
              <a:buNone/>
            </a:pPr>
            <a:endParaRPr lang="ps-AF" sz="2000" dirty="0"/>
          </a:p>
          <a:p>
            <a:pPr algn="r" rtl="1">
              <a:lnSpc>
                <a:spcPct val="90000"/>
              </a:lnSpc>
            </a:pPr>
            <a:r>
              <a:rPr lang="fa-IR" sz="2000" dirty="0"/>
              <a:t>افزودن فیلدهای </a:t>
            </a:r>
            <a:r>
              <a:rPr lang="en-US" sz="2000" dirty="0"/>
              <a:t>Shape Data</a:t>
            </a:r>
            <a:r>
              <a:rPr lang="ps-AF" sz="2000" dirty="0"/>
              <a:t> </a:t>
            </a:r>
            <a:r>
              <a:rPr lang="en-US" sz="2000" dirty="0"/>
              <a:t> </a:t>
            </a:r>
            <a:r>
              <a:rPr lang="fa-IR" sz="2000" dirty="0"/>
              <a:t>به اشکال</a:t>
            </a:r>
            <a:endParaRPr lang="ps-AF" sz="2000" dirty="0"/>
          </a:p>
          <a:p>
            <a:pPr algn="r" rtl="1">
              <a:lnSpc>
                <a:spcPct val="90000"/>
              </a:lnSpc>
            </a:pPr>
            <a:r>
              <a:rPr lang="fa-IR" sz="2000" dirty="0"/>
              <a:t>تهیه فایل </a:t>
            </a:r>
            <a:r>
              <a:rPr lang="en-US" sz="2000" dirty="0"/>
              <a:t>Excel </a:t>
            </a:r>
            <a:r>
              <a:rPr lang="ps-AF" sz="2000" dirty="0"/>
              <a:t> </a:t>
            </a:r>
            <a:r>
              <a:rPr lang="fa-IR" sz="2000" dirty="0"/>
              <a:t>و لینک‌سازی </a:t>
            </a:r>
            <a:r>
              <a:rPr lang="ps-AF" sz="2000" dirty="0"/>
              <a:t>دیتا</a:t>
            </a:r>
          </a:p>
          <a:p>
            <a:pPr algn="r" rtl="1">
              <a:lnSpc>
                <a:spcPct val="90000"/>
              </a:lnSpc>
            </a:pPr>
            <a:r>
              <a:rPr lang="fa-IR" sz="2000" dirty="0"/>
              <a:t>اعمال </a:t>
            </a:r>
            <a:r>
              <a:rPr lang="en-US" sz="2000" dirty="0"/>
              <a:t>Data Graphics</a:t>
            </a:r>
            <a:r>
              <a:rPr lang="ps-AF" sz="2000" dirty="0"/>
              <a:t> </a:t>
            </a:r>
            <a:r>
              <a:rPr lang="en-US" sz="2000" dirty="0"/>
              <a:t> </a:t>
            </a:r>
            <a:r>
              <a:rPr lang="fa-IR" sz="2000" dirty="0"/>
              <a:t>برای نمایش </a:t>
            </a:r>
            <a:r>
              <a:rPr lang="ps-AF" sz="2000" dirty="0"/>
              <a:t>دیتا ها</a:t>
            </a:r>
          </a:p>
          <a:p>
            <a:pPr algn="r" rtl="1">
              <a:lnSpc>
                <a:spcPct val="90000"/>
              </a:lnSpc>
            </a:pPr>
            <a:r>
              <a:rPr lang="fa-I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استفاده از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Conditional Formatting</a:t>
            </a:r>
          </a:p>
          <a:p>
            <a:pPr algn="r" rtl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6721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15A2-C92A-0159-BCD6-DDDBE924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سناریو تمرین انفرادی / گروپی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D5FFB-DF40-B859-C0E3-00DB2274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ps-AF" sz="1800" i="0" u="none" strike="noStrike" baseline="0" dirty="0">
                <a:latin typeface="BahijNazanin-Bold"/>
              </a:rPr>
              <a:t>برای سناریو زیل تمام موارد مانند </a:t>
            </a:r>
            <a:br>
              <a:rPr lang="en-US" sz="1800" i="0" u="none" strike="noStrike" baseline="0" dirty="0">
                <a:latin typeface="BahijNazanin-Bold"/>
              </a:rPr>
            </a:br>
            <a:r>
              <a:rPr lang="ps-AF" sz="1800" i="0" u="none" strike="noStrike" baseline="0" dirty="0">
                <a:latin typeface="BahijNazanin-Bold"/>
              </a:rPr>
              <a:t>(</a:t>
            </a:r>
            <a:r>
              <a:rPr lang="en-US" sz="1800" i="0" u="none" strike="noStrike" baseline="0" dirty="0">
                <a:latin typeface="BahijNazanin-Bold"/>
              </a:rPr>
              <a:t>Data Shapes, Data Graphics, Conditional Formatting, Preparing Excel File and linking</a:t>
            </a:r>
            <a:r>
              <a:rPr lang="ps-AF" sz="1800" i="0" u="none" strike="noStrike" baseline="0" dirty="0">
                <a:latin typeface="BahijNazanin-Bold"/>
              </a:rPr>
              <a:t>) را تطبیق کنید:</a:t>
            </a:r>
          </a:p>
          <a:p>
            <a:pPr algn="r" rtl="1"/>
            <a:endParaRPr lang="ps-AF" dirty="0">
              <a:latin typeface="BahijNazanin-Bold"/>
            </a:endParaRP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شرح سناریو طراحی شبکه ساده بخش </a:t>
            </a:r>
            <a:r>
              <a:rPr lang="en-US" sz="1800" i="0" u="none" strike="noStrike" baseline="0" dirty="0">
                <a:latin typeface="BahijNazanin-Bold"/>
              </a:rPr>
              <a:t>IT </a:t>
            </a:r>
            <a:r>
              <a:rPr lang="fa-IR" sz="1800" i="0" u="none" strike="noStrike" baseline="0" dirty="0">
                <a:latin typeface="BahijNazanin-Bold"/>
              </a:rPr>
              <a:t>یک اداره</a:t>
            </a:r>
            <a:r>
              <a:rPr lang="ps-AF" sz="1800" i="0" u="none" strike="noStrike" baseline="0" dirty="0">
                <a:latin typeface="BahijNazanin-Bold"/>
              </a:rPr>
              <a:t>:</a:t>
            </a: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شما کارمند بخش </a:t>
            </a:r>
            <a:r>
              <a:rPr lang="en-US" sz="1800" i="0" u="none" strike="noStrike" baseline="0" dirty="0">
                <a:latin typeface="BahijNazanin-Bold"/>
              </a:rPr>
              <a:t>IT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en-US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یک اداره هستید و وظیفه دارید یک دیاگرام ساده از تجهیزات و ارتباطات شبکه در بخش خود را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طراحی نمایید. این دیاگرام باید ساختار اساسی شبکه محلی </a:t>
            </a:r>
            <a:r>
              <a:rPr lang="ps-AF" sz="1800" i="0" u="none" strike="noStrike" baseline="0" dirty="0">
                <a:latin typeface="BahijNazanin-Bold"/>
              </a:rPr>
              <a:t>(</a:t>
            </a:r>
            <a:r>
              <a:rPr lang="en-US" sz="1800" i="0" u="none" strike="noStrike" baseline="0" dirty="0">
                <a:latin typeface="BahijNazanin-Bold"/>
              </a:rPr>
              <a:t>LAN</a:t>
            </a:r>
            <a:r>
              <a:rPr lang="ps-AF" sz="1800" i="0" u="none" strike="noStrike" baseline="0" dirty="0">
                <a:latin typeface="BahijNazanin-Bold"/>
              </a:rPr>
              <a:t>) </a:t>
            </a:r>
            <a:r>
              <a:rPr lang="fa-IR" sz="1800" i="0" u="none" strike="noStrike" baseline="0" dirty="0">
                <a:latin typeface="BahijNazanin-Bold"/>
              </a:rPr>
              <a:t>را نمایش دهد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7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 mark against red wall">
            <a:extLst>
              <a:ext uri="{FF2B5EF4-FFF2-40B4-BE49-F238E27FC236}">
                <a16:creationId xmlns:a16="http://schemas.microsoft.com/office/drawing/2014/main" id="{8155F1BC-1859-8DCD-CBB2-56E4374B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12" r="1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8B0E1-45E6-4B9B-FAFA-95B5E86B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47" y="2158116"/>
            <a:ext cx="4319210" cy="1077687"/>
          </a:xfrm>
        </p:spPr>
        <p:txBody>
          <a:bodyPr>
            <a:normAutofit/>
          </a:bodyPr>
          <a:lstStyle/>
          <a:p>
            <a:pPr algn="ctr"/>
            <a:r>
              <a:rPr lang="fa-IR" dirty="0"/>
              <a:t>پرسش و پاسخ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3695C0-5761-8555-1BD2-598AC1816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3622197"/>
            <a:ext cx="4754638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آیا توقعات مشخصی از طرف شما وجود دارد؟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پیشنهادات در مورد محتوا یا بخش‌های مورد تمرکز دارید؟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85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748</TotalTime>
  <Words>1531</Words>
  <Application>Microsoft Office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Bahij Nazanin</vt:lpstr>
      <vt:lpstr>BahijNazanin-Bold</vt:lpstr>
      <vt:lpstr>Times New Roman</vt:lpstr>
      <vt:lpstr>Trebuchet MS</vt:lpstr>
      <vt:lpstr>Wingdings 3</vt:lpstr>
      <vt:lpstr>Facet</vt:lpstr>
      <vt:lpstr> آموزش برنامه مایکروسافت ویزیو</vt:lpstr>
      <vt:lpstr>روز ۴</vt:lpstr>
      <vt:lpstr>اجندای روز چهارم برنامه آموزشی  Microsoft Visio</vt:lpstr>
      <vt:lpstr>مقررات آموزش</vt:lpstr>
      <vt:lpstr>Shape Data چیست؟</vt:lpstr>
      <vt:lpstr>مراحل افزودن و نمایش معلومات (Shape Data) در Visio</vt:lpstr>
      <vt:lpstr>ایجاد و استفاده از مجموعه قابل استفاده مجدد (Reusable Shape Data Set)</vt:lpstr>
      <vt:lpstr>افزودن فیلدها به Master Shape  و حذف فیلدها</vt:lpstr>
      <vt:lpstr>لینک‌سازی دیتا از Excel  به Visio</vt:lpstr>
      <vt:lpstr>ساختار و مراحل لینک‌سازی دیتا ها در Visio</vt:lpstr>
      <vt:lpstr>معرفی Data Graphics  در Visio</vt:lpstr>
      <vt:lpstr>اجزای اصلی Data Graphics  و کاربرد آن‌ها</vt:lpstr>
      <vt:lpstr>اعمال Data Graphics  به شکل‌ها در Visio</vt:lpstr>
      <vt:lpstr>فرمت‌گذاری شرطی (Conditional Formatting)  در Data Graphics</vt:lpstr>
      <vt:lpstr>فرمت‌گذاری شرطی (Conditional Formatting)  در Data Graphics</vt:lpstr>
      <vt:lpstr>کار عملی (طراحی دیاگرام شبکه)  سناریوی عملی – تطبیق مفاهیم روز چهارم</vt:lpstr>
      <vt:lpstr>سناریو تمرین انفرادی / گروپی</vt:lpstr>
      <vt:lpstr>پرسش و پاسخ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milad kakar</dc:creator>
  <cp:lastModifiedBy>milad kakar</cp:lastModifiedBy>
  <cp:revision>154</cp:revision>
  <dcterms:created xsi:type="dcterms:W3CDTF">2025-07-29T03:24:42Z</dcterms:created>
  <dcterms:modified xsi:type="dcterms:W3CDTF">2025-08-06T07:39:48Z</dcterms:modified>
</cp:coreProperties>
</file>