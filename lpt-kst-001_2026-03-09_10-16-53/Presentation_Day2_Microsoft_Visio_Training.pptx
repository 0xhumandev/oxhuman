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0" r:id="rId3"/>
    <p:sldId id="4379" r:id="rId4"/>
    <p:sldId id="336" r:id="rId5"/>
    <p:sldId id="4364" r:id="rId6"/>
    <p:sldId id="4377" r:id="rId7"/>
    <p:sldId id="4378" r:id="rId8"/>
    <p:sldId id="4371" r:id="rId9"/>
    <p:sldId id="4372" r:id="rId10"/>
    <p:sldId id="4373" r:id="rId11"/>
    <p:sldId id="4374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8DFB93-A0BE-433B-809C-5A141E1043B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C3DA5FE-10FA-4BCB-9018-1D6D6519DDD4}">
      <dgm:prSet/>
      <dgm:spPr/>
      <dgm:t>
        <a:bodyPr/>
        <a:lstStyle/>
        <a:p>
          <a:r>
            <a:rPr lang="fa-IR"/>
            <a:t>دیاگرام شبکه چیست ؟</a:t>
          </a:r>
          <a:endParaRPr lang="en-US"/>
        </a:p>
      </dgm:t>
    </dgm:pt>
    <dgm:pt modelId="{5B737DD5-4222-4DF0-BFC9-722D3267F37E}" type="parTrans" cxnId="{A2EA1B05-2410-4824-9C3F-1012100ADC42}">
      <dgm:prSet/>
      <dgm:spPr/>
      <dgm:t>
        <a:bodyPr/>
        <a:lstStyle/>
        <a:p>
          <a:endParaRPr lang="en-US"/>
        </a:p>
      </dgm:t>
    </dgm:pt>
    <dgm:pt modelId="{096CC1C6-766B-428E-A932-2930F85802CB}" type="sibTrans" cxnId="{A2EA1B05-2410-4824-9C3F-1012100ADC42}">
      <dgm:prSet/>
      <dgm:spPr/>
      <dgm:t>
        <a:bodyPr/>
        <a:lstStyle/>
        <a:p>
          <a:endParaRPr lang="en-US"/>
        </a:p>
      </dgm:t>
    </dgm:pt>
    <dgm:pt modelId="{BEE0C076-0E6E-4D87-BB07-ACB49C810C9A}">
      <dgm:prSet/>
      <dgm:spPr/>
      <dgm:t>
        <a:bodyPr/>
        <a:lstStyle/>
        <a:p>
          <a:r>
            <a:rPr lang="ps-AF"/>
            <a:t>انواع دیا</a:t>
          </a:r>
          <a:r>
            <a:rPr lang="prs-AF"/>
            <a:t>گرام های شبکه</a:t>
          </a:r>
          <a:endParaRPr lang="en-US"/>
        </a:p>
      </dgm:t>
    </dgm:pt>
    <dgm:pt modelId="{018A9C70-5AF5-4267-AC3D-03288A0E1451}" type="parTrans" cxnId="{EF9C5870-F97A-404E-9D5D-AE3A290CF198}">
      <dgm:prSet/>
      <dgm:spPr/>
      <dgm:t>
        <a:bodyPr/>
        <a:lstStyle/>
        <a:p>
          <a:endParaRPr lang="en-US"/>
        </a:p>
      </dgm:t>
    </dgm:pt>
    <dgm:pt modelId="{E4C5BECD-647D-448B-9EEE-23E002527164}" type="sibTrans" cxnId="{EF9C5870-F97A-404E-9D5D-AE3A290CF198}">
      <dgm:prSet/>
      <dgm:spPr/>
      <dgm:t>
        <a:bodyPr/>
        <a:lstStyle/>
        <a:p>
          <a:endParaRPr lang="en-US"/>
        </a:p>
      </dgm:t>
    </dgm:pt>
    <dgm:pt modelId="{B267E88E-5646-4E75-A972-A89736113373}">
      <dgm:prSet/>
      <dgm:spPr/>
      <dgm:t>
        <a:bodyPr/>
        <a:lstStyle/>
        <a:p>
          <a:r>
            <a:rPr lang="prs-AF"/>
            <a:t>اجزای مهم شبکه</a:t>
          </a:r>
          <a:endParaRPr lang="en-US"/>
        </a:p>
      </dgm:t>
    </dgm:pt>
    <dgm:pt modelId="{8C498F6F-8F73-48F7-B7FA-3EFADDE8DEBA}" type="parTrans" cxnId="{103FF3DA-BD91-4A6C-B5BE-88DCA3DC7AF4}">
      <dgm:prSet/>
      <dgm:spPr/>
      <dgm:t>
        <a:bodyPr/>
        <a:lstStyle/>
        <a:p>
          <a:endParaRPr lang="en-US"/>
        </a:p>
      </dgm:t>
    </dgm:pt>
    <dgm:pt modelId="{9F3CCC9F-0CA6-4B3B-8651-F33A0104E531}" type="sibTrans" cxnId="{103FF3DA-BD91-4A6C-B5BE-88DCA3DC7AF4}">
      <dgm:prSet/>
      <dgm:spPr/>
      <dgm:t>
        <a:bodyPr/>
        <a:lstStyle/>
        <a:p>
          <a:endParaRPr lang="en-US"/>
        </a:p>
      </dgm:t>
    </dgm:pt>
    <dgm:pt modelId="{6079F31E-D8F2-4535-8BBA-E111AF1984EE}">
      <dgm:prSet/>
      <dgm:spPr/>
      <dgm:t>
        <a:bodyPr/>
        <a:lstStyle/>
        <a:p>
          <a:r>
            <a:rPr lang="prs-AF"/>
            <a:t>توپولوژی شبکه</a:t>
          </a:r>
          <a:endParaRPr lang="en-US"/>
        </a:p>
      </dgm:t>
    </dgm:pt>
    <dgm:pt modelId="{F3BE60A1-3DE1-47B7-A3F0-D8C5B18283BA}" type="parTrans" cxnId="{5C328228-CD68-46EA-88B8-CE1332FDED03}">
      <dgm:prSet/>
      <dgm:spPr/>
      <dgm:t>
        <a:bodyPr/>
        <a:lstStyle/>
        <a:p>
          <a:endParaRPr lang="en-US"/>
        </a:p>
      </dgm:t>
    </dgm:pt>
    <dgm:pt modelId="{7829822A-B758-4B86-8216-77D817253D25}" type="sibTrans" cxnId="{5C328228-CD68-46EA-88B8-CE1332FDED03}">
      <dgm:prSet/>
      <dgm:spPr/>
      <dgm:t>
        <a:bodyPr/>
        <a:lstStyle/>
        <a:p>
          <a:endParaRPr lang="en-US"/>
        </a:p>
      </dgm:t>
    </dgm:pt>
    <dgm:pt modelId="{CDA795DB-A18B-47B1-BDF9-7375018339F0}">
      <dgm:prSet/>
      <dgm:spPr/>
      <dgm:t>
        <a:bodyPr/>
        <a:lstStyle/>
        <a:p>
          <a:r>
            <a:rPr lang="ps-AF"/>
            <a:t>کار عملی (طراحی دیا</a:t>
          </a:r>
          <a:r>
            <a:rPr lang="prs-AF"/>
            <a:t>گ</a:t>
          </a:r>
          <a:r>
            <a:rPr lang="ps-AF"/>
            <a:t>رام شبکه) </a:t>
          </a:r>
          <a:endParaRPr lang="en-US"/>
        </a:p>
      </dgm:t>
    </dgm:pt>
    <dgm:pt modelId="{34A61FDE-9AB8-432D-B2CD-DE4D95CF0036}" type="parTrans" cxnId="{F8FAE8AC-53D2-44E7-83F4-82C4038D28B1}">
      <dgm:prSet/>
      <dgm:spPr/>
      <dgm:t>
        <a:bodyPr/>
        <a:lstStyle/>
        <a:p>
          <a:endParaRPr lang="en-US"/>
        </a:p>
      </dgm:t>
    </dgm:pt>
    <dgm:pt modelId="{D6FFE8CB-4E94-4C6C-94BA-5AA6A7420D2C}" type="sibTrans" cxnId="{F8FAE8AC-53D2-44E7-83F4-82C4038D28B1}">
      <dgm:prSet/>
      <dgm:spPr/>
      <dgm:t>
        <a:bodyPr/>
        <a:lstStyle/>
        <a:p>
          <a:endParaRPr lang="en-US"/>
        </a:p>
      </dgm:t>
    </dgm:pt>
    <dgm:pt modelId="{0C8A36E0-91D3-4604-89A5-AA46DEAB17D7}">
      <dgm:prSet/>
      <dgm:spPr/>
      <dgm:t>
        <a:bodyPr/>
        <a:lstStyle/>
        <a:p>
          <a:r>
            <a:rPr lang="prs-AF"/>
            <a:t>سناریو تمرین انفرادی / گروپی</a:t>
          </a:r>
          <a:endParaRPr lang="en-US"/>
        </a:p>
      </dgm:t>
    </dgm:pt>
    <dgm:pt modelId="{C07F4219-9795-495C-A327-ED240FB0210C}" type="parTrans" cxnId="{1543B636-93AE-47D9-BB5B-BE471A4BD0D5}">
      <dgm:prSet/>
      <dgm:spPr/>
      <dgm:t>
        <a:bodyPr/>
        <a:lstStyle/>
        <a:p>
          <a:endParaRPr lang="en-US"/>
        </a:p>
      </dgm:t>
    </dgm:pt>
    <dgm:pt modelId="{A5D90C49-9C30-4C21-BFC4-0D21D5B75B8D}" type="sibTrans" cxnId="{1543B636-93AE-47D9-BB5B-BE471A4BD0D5}">
      <dgm:prSet/>
      <dgm:spPr/>
      <dgm:t>
        <a:bodyPr/>
        <a:lstStyle/>
        <a:p>
          <a:endParaRPr lang="en-US"/>
        </a:p>
      </dgm:t>
    </dgm:pt>
    <dgm:pt modelId="{0B438728-1B4E-4520-A27C-6C7F027CAC0C}">
      <dgm:prSet/>
      <dgm:spPr/>
      <dgm:t>
        <a:bodyPr/>
        <a:lstStyle/>
        <a:p>
          <a:r>
            <a:rPr lang="ar-SA" b="0" i="0" baseline="0" dirty="0"/>
            <a:t>جمع‌بندی، سوال و جواب، آمادگی برای روز </a:t>
          </a:r>
          <a:r>
            <a:rPr lang="ps-AF" dirty="0"/>
            <a:t>سوم</a:t>
          </a:r>
          <a:endParaRPr lang="en-US" dirty="0"/>
        </a:p>
      </dgm:t>
    </dgm:pt>
    <dgm:pt modelId="{61488EF1-E4D2-4123-B84B-9F1667D30CB4}" type="parTrans" cxnId="{607543A0-3107-4C42-ADF0-B0C042DB4EC1}">
      <dgm:prSet/>
      <dgm:spPr/>
      <dgm:t>
        <a:bodyPr/>
        <a:lstStyle/>
        <a:p>
          <a:endParaRPr lang="en-US"/>
        </a:p>
      </dgm:t>
    </dgm:pt>
    <dgm:pt modelId="{2A74E5D5-AD5E-49A3-83D3-E4C9D6D20E68}" type="sibTrans" cxnId="{607543A0-3107-4C42-ADF0-B0C042DB4EC1}">
      <dgm:prSet/>
      <dgm:spPr/>
      <dgm:t>
        <a:bodyPr/>
        <a:lstStyle/>
        <a:p>
          <a:endParaRPr lang="en-US"/>
        </a:p>
      </dgm:t>
    </dgm:pt>
    <dgm:pt modelId="{CF7B6FD0-F4A4-4E39-9085-72192BCE682C}" type="pres">
      <dgm:prSet presAssocID="{F18DFB93-A0BE-433B-809C-5A141E1043BD}" presName="linear" presStyleCnt="0">
        <dgm:presLayoutVars>
          <dgm:animLvl val="lvl"/>
          <dgm:resizeHandles val="exact"/>
        </dgm:presLayoutVars>
      </dgm:prSet>
      <dgm:spPr/>
    </dgm:pt>
    <dgm:pt modelId="{C914AF17-C025-4D68-96FD-07BA4ED2A1AA}" type="pres">
      <dgm:prSet presAssocID="{5C3DA5FE-10FA-4BCB-9018-1D6D6519DDD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D8F1354F-4D66-4815-A31E-1F42A47D8768}" type="pres">
      <dgm:prSet presAssocID="{096CC1C6-766B-428E-A932-2930F85802CB}" presName="spacer" presStyleCnt="0"/>
      <dgm:spPr/>
    </dgm:pt>
    <dgm:pt modelId="{B506482F-B90F-4973-A960-703BFCCA3438}" type="pres">
      <dgm:prSet presAssocID="{BEE0C076-0E6E-4D87-BB07-ACB49C810C9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376EFD2-5044-400E-87FF-7C3DF1A6BE89}" type="pres">
      <dgm:prSet presAssocID="{E4C5BECD-647D-448B-9EEE-23E002527164}" presName="spacer" presStyleCnt="0"/>
      <dgm:spPr/>
    </dgm:pt>
    <dgm:pt modelId="{708CEAA6-A1F0-4FFA-B88B-64B249BE0C44}" type="pres">
      <dgm:prSet presAssocID="{B267E88E-5646-4E75-A972-A89736113373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7DF676ED-35E1-4650-946E-0CB9EAF64BA4}" type="pres">
      <dgm:prSet presAssocID="{9F3CCC9F-0CA6-4B3B-8651-F33A0104E531}" presName="spacer" presStyleCnt="0"/>
      <dgm:spPr/>
    </dgm:pt>
    <dgm:pt modelId="{F318F457-8393-4721-915E-B70AB9714523}" type="pres">
      <dgm:prSet presAssocID="{6079F31E-D8F2-4535-8BBA-E111AF1984E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05C9120C-7ED8-4C07-85E6-FCA28C98D536}" type="pres">
      <dgm:prSet presAssocID="{7829822A-B758-4B86-8216-77D817253D25}" presName="spacer" presStyleCnt="0"/>
      <dgm:spPr/>
    </dgm:pt>
    <dgm:pt modelId="{0DDAD5B0-AAE8-40BF-AD28-2179F5E48075}" type="pres">
      <dgm:prSet presAssocID="{CDA795DB-A18B-47B1-BDF9-7375018339F0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588FA0F-313E-4714-9648-876F78F1BA3B}" type="pres">
      <dgm:prSet presAssocID="{D6FFE8CB-4E94-4C6C-94BA-5AA6A7420D2C}" presName="spacer" presStyleCnt="0"/>
      <dgm:spPr/>
    </dgm:pt>
    <dgm:pt modelId="{D3F92ABD-D967-4A92-AE7F-57DAD0C69BED}" type="pres">
      <dgm:prSet presAssocID="{0C8A36E0-91D3-4604-89A5-AA46DEAB17D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71E61441-5BF6-4FD3-AAB1-EB6A83EE4485}" type="pres">
      <dgm:prSet presAssocID="{A5D90C49-9C30-4C21-BFC4-0D21D5B75B8D}" presName="spacer" presStyleCnt="0"/>
      <dgm:spPr/>
    </dgm:pt>
    <dgm:pt modelId="{C45C249D-06C3-4A63-BF0D-DD39011D0FD5}" type="pres">
      <dgm:prSet presAssocID="{0B438728-1B4E-4520-A27C-6C7F027CAC0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A2EA1B05-2410-4824-9C3F-1012100ADC42}" srcId="{F18DFB93-A0BE-433B-809C-5A141E1043BD}" destId="{5C3DA5FE-10FA-4BCB-9018-1D6D6519DDD4}" srcOrd="0" destOrd="0" parTransId="{5B737DD5-4222-4DF0-BFC9-722D3267F37E}" sibTransId="{096CC1C6-766B-428E-A932-2930F85802CB}"/>
    <dgm:cxn modelId="{71514025-B782-4616-AA8E-711F0F00A100}" type="presOf" srcId="{5C3DA5FE-10FA-4BCB-9018-1D6D6519DDD4}" destId="{C914AF17-C025-4D68-96FD-07BA4ED2A1AA}" srcOrd="0" destOrd="0" presId="urn:microsoft.com/office/officeart/2005/8/layout/vList2"/>
    <dgm:cxn modelId="{5C328228-CD68-46EA-88B8-CE1332FDED03}" srcId="{F18DFB93-A0BE-433B-809C-5A141E1043BD}" destId="{6079F31E-D8F2-4535-8BBA-E111AF1984EE}" srcOrd="3" destOrd="0" parTransId="{F3BE60A1-3DE1-47B7-A3F0-D8C5B18283BA}" sibTransId="{7829822A-B758-4B86-8216-77D817253D25}"/>
    <dgm:cxn modelId="{59E76033-E66C-4B5F-8D65-D2C00ED74EBC}" type="presOf" srcId="{F18DFB93-A0BE-433B-809C-5A141E1043BD}" destId="{CF7B6FD0-F4A4-4E39-9085-72192BCE682C}" srcOrd="0" destOrd="0" presId="urn:microsoft.com/office/officeart/2005/8/layout/vList2"/>
    <dgm:cxn modelId="{1543B636-93AE-47D9-BB5B-BE471A4BD0D5}" srcId="{F18DFB93-A0BE-433B-809C-5A141E1043BD}" destId="{0C8A36E0-91D3-4604-89A5-AA46DEAB17D7}" srcOrd="5" destOrd="0" parTransId="{C07F4219-9795-495C-A327-ED240FB0210C}" sibTransId="{A5D90C49-9C30-4C21-BFC4-0D21D5B75B8D}"/>
    <dgm:cxn modelId="{EF9C5870-F97A-404E-9D5D-AE3A290CF198}" srcId="{F18DFB93-A0BE-433B-809C-5A141E1043BD}" destId="{BEE0C076-0E6E-4D87-BB07-ACB49C810C9A}" srcOrd="1" destOrd="0" parTransId="{018A9C70-5AF5-4267-AC3D-03288A0E1451}" sibTransId="{E4C5BECD-647D-448B-9EEE-23E002527164}"/>
    <dgm:cxn modelId="{D1E3E981-8680-49AE-8023-9C3E5B9F1048}" type="presOf" srcId="{CDA795DB-A18B-47B1-BDF9-7375018339F0}" destId="{0DDAD5B0-AAE8-40BF-AD28-2179F5E48075}" srcOrd="0" destOrd="0" presId="urn:microsoft.com/office/officeart/2005/8/layout/vList2"/>
    <dgm:cxn modelId="{607543A0-3107-4C42-ADF0-B0C042DB4EC1}" srcId="{F18DFB93-A0BE-433B-809C-5A141E1043BD}" destId="{0B438728-1B4E-4520-A27C-6C7F027CAC0C}" srcOrd="6" destOrd="0" parTransId="{61488EF1-E4D2-4123-B84B-9F1667D30CB4}" sibTransId="{2A74E5D5-AD5E-49A3-83D3-E4C9D6D20E68}"/>
    <dgm:cxn modelId="{FEFF13A5-8D99-4179-BC04-A3FF1CD642B2}" type="presOf" srcId="{6079F31E-D8F2-4535-8BBA-E111AF1984EE}" destId="{F318F457-8393-4721-915E-B70AB9714523}" srcOrd="0" destOrd="0" presId="urn:microsoft.com/office/officeart/2005/8/layout/vList2"/>
    <dgm:cxn modelId="{F8FAE8AC-53D2-44E7-83F4-82C4038D28B1}" srcId="{F18DFB93-A0BE-433B-809C-5A141E1043BD}" destId="{CDA795DB-A18B-47B1-BDF9-7375018339F0}" srcOrd="4" destOrd="0" parTransId="{34A61FDE-9AB8-432D-B2CD-DE4D95CF0036}" sibTransId="{D6FFE8CB-4E94-4C6C-94BA-5AA6A7420D2C}"/>
    <dgm:cxn modelId="{5B5274C1-D240-4373-A5EE-5EAED9A39910}" type="presOf" srcId="{BEE0C076-0E6E-4D87-BB07-ACB49C810C9A}" destId="{B506482F-B90F-4973-A960-703BFCCA3438}" srcOrd="0" destOrd="0" presId="urn:microsoft.com/office/officeart/2005/8/layout/vList2"/>
    <dgm:cxn modelId="{A017E7D5-A7E4-4C29-9E76-D0E2C2CF21D4}" type="presOf" srcId="{0B438728-1B4E-4520-A27C-6C7F027CAC0C}" destId="{C45C249D-06C3-4A63-BF0D-DD39011D0FD5}" srcOrd="0" destOrd="0" presId="urn:microsoft.com/office/officeart/2005/8/layout/vList2"/>
    <dgm:cxn modelId="{103FF3DA-BD91-4A6C-B5BE-88DCA3DC7AF4}" srcId="{F18DFB93-A0BE-433B-809C-5A141E1043BD}" destId="{B267E88E-5646-4E75-A972-A89736113373}" srcOrd="2" destOrd="0" parTransId="{8C498F6F-8F73-48F7-B7FA-3EFADDE8DEBA}" sibTransId="{9F3CCC9F-0CA6-4B3B-8651-F33A0104E531}"/>
    <dgm:cxn modelId="{DDB218F6-6C3D-455A-AC98-406ADC35777A}" type="presOf" srcId="{0C8A36E0-91D3-4604-89A5-AA46DEAB17D7}" destId="{D3F92ABD-D967-4A92-AE7F-57DAD0C69BED}" srcOrd="0" destOrd="0" presId="urn:microsoft.com/office/officeart/2005/8/layout/vList2"/>
    <dgm:cxn modelId="{F1DE87F7-FB9D-478F-B9A7-502731700213}" type="presOf" srcId="{B267E88E-5646-4E75-A972-A89736113373}" destId="{708CEAA6-A1F0-4FFA-B88B-64B249BE0C44}" srcOrd="0" destOrd="0" presId="urn:microsoft.com/office/officeart/2005/8/layout/vList2"/>
    <dgm:cxn modelId="{53B003FB-FD56-499F-A59A-65BCAC33F72F}" type="presParOf" srcId="{CF7B6FD0-F4A4-4E39-9085-72192BCE682C}" destId="{C914AF17-C025-4D68-96FD-07BA4ED2A1AA}" srcOrd="0" destOrd="0" presId="urn:microsoft.com/office/officeart/2005/8/layout/vList2"/>
    <dgm:cxn modelId="{44BE9526-3CF2-4DA3-94EE-D448B258ABF7}" type="presParOf" srcId="{CF7B6FD0-F4A4-4E39-9085-72192BCE682C}" destId="{D8F1354F-4D66-4815-A31E-1F42A47D8768}" srcOrd="1" destOrd="0" presId="urn:microsoft.com/office/officeart/2005/8/layout/vList2"/>
    <dgm:cxn modelId="{421FA293-56E0-4644-9925-12365873226B}" type="presParOf" srcId="{CF7B6FD0-F4A4-4E39-9085-72192BCE682C}" destId="{B506482F-B90F-4973-A960-703BFCCA3438}" srcOrd="2" destOrd="0" presId="urn:microsoft.com/office/officeart/2005/8/layout/vList2"/>
    <dgm:cxn modelId="{D887896F-F25B-4AFA-91A3-15BB35B68EFF}" type="presParOf" srcId="{CF7B6FD0-F4A4-4E39-9085-72192BCE682C}" destId="{0376EFD2-5044-400E-87FF-7C3DF1A6BE89}" srcOrd="3" destOrd="0" presId="urn:microsoft.com/office/officeart/2005/8/layout/vList2"/>
    <dgm:cxn modelId="{049603B7-02E5-4013-B841-5F4EDF921024}" type="presParOf" srcId="{CF7B6FD0-F4A4-4E39-9085-72192BCE682C}" destId="{708CEAA6-A1F0-4FFA-B88B-64B249BE0C44}" srcOrd="4" destOrd="0" presId="urn:microsoft.com/office/officeart/2005/8/layout/vList2"/>
    <dgm:cxn modelId="{281CF403-A01A-457B-8BB3-A627D8FA181D}" type="presParOf" srcId="{CF7B6FD0-F4A4-4E39-9085-72192BCE682C}" destId="{7DF676ED-35E1-4650-946E-0CB9EAF64BA4}" srcOrd="5" destOrd="0" presId="urn:microsoft.com/office/officeart/2005/8/layout/vList2"/>
    <dgm:cxn modelId="{7B49E291-A1EA-4D9A-98C2-8B888B4F7282}" type="presParOf" srcId="{CF7B6FD0-F4A4-4E39-9085-72192BCE682C}" destId="{F318F457-8393-4721-915E-B70AB9714523}" srcOrd="6" destOrd="0" presId="urn:microsoft.com/office/officeart/2005/8/layout/vList2"/>
    <dgm:cxn modelId="{4E863233-8C94-4083-BACD-C97C30CDD63E}" type="presParOf" srcId="{CF7B6FD0-F4A4-4E39-9085-72192BCE682C}" destId="{05C9120C-7ED8-4C07-85E6-FCA28C98D536}" srcOrd="7" destOrd="0" presId="urn:microsoft.com/office/officeart/2005/8/layout/vList2"/>
    <dgm:cxn modelId="{F9B99EF9-85D1-427E-B27C-EBC17DA430A3}" type="presParOf" srcId="{CF7B6FD0-F4A4-4E39-9085-72192BCE682C}" destId="{0DDAD5B0-AAE8-40BF-AD28-2179F5E48075}" srcOrd="8" destOrd="0" presId="urn:microsoft.com/office/officeart/2005/8/layout/vList2"/>
    <dgm:cxn modelId="{BB7F2642-4C52-4D5D-A97D-13622397F9A4}" type="presParOf" srcId="{CF7B6FD0-F4A4-4E39-9085-72192BCE682C}" destId="{B588FA0F-313E-4714-9648-876F78F1BA3B}" srcOrd="9" destOrd="0" presId="urn:microsoft.com/office/officeart/2005/8/layout/vList2"/>
    <dgm:cxn modelId="{051BC0B8-A414-4266-99A4-DBBFE308FF22}" type="presParOf" srcId="{CF7B6FD0-F4A4-4E39-9085-72192BCE682C}" destId="{D3F92ABD-D967-4A92-AE7F-57DAD0C69BED}" srcOrd="10" destOrd="0" presId="urn:microsoft.com/office/officeart/2005/8/layout/vList2"/>
    <dgm:cxn modelId="{0FE49BEF-54E2-40A7-A43F-EE6880855B09}" type="presParOf" srcId="{CF7B6FD0-F4A4-4E39-9085-72192BCE682C}" destId="{71E61441-5BF6-4FD3-AAB1-EB6A83EE4485}" srcOrd="11" destOrd="0" presId="urn:microsoft.com/office/officeart/2005/8/layout/vList2"/>
    <dgm:cxn modelId="{2B5A145D-2B80-4DB1-8917-81CD39296333}" type="presParOf" srcId="{CF7B6FD0-F4A4-4E39-9085-72192BCE682C}" destId="{C45C249D-06C3-4A63-BF0D-DD39011D0FD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4AF17-C025-4D68-96FD-07BA4ED2A1AA}">
      <dsp:nvSpPr>
        <dsp:cNvPr id="0" name=""/>
        <dsp:cNvSpPr/>
      </dsp:nvSpPr>
      <dsp:spPr>
        <a:xfrm>
          <a:off x="0" y="96907"/>
          <a:ext cx="6692813" cy="5996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a-IR" sz="2500" kern="1200"/>
            <a:t>دیاگرام شبکه چیست ؟</a:t>
          </a:r>
          <a:endParaRPr lang="en-US" sz="2500" kern="1200"/>
        </a:p>
      </dsp:txBody>
      <dsp:txXfrm>
        <a:off x="29271" y="126178"/>
        <a:ext cx="6634271" cy="541083"/>
      </dsp:txXfrm>
    </dsp:sp>
    <dsp:sp modelId="{B506482F-B90F-4973-A960-703BFCCA3438}">
      <dsp:nvSpPr>
        <dsp:cNvPr id="0" name=""/>
        <dsp:cNvSpPr/>
      </dsp:nvSpPr>
      <dsp:spPr>
        <a:xfrm>
          <a:off x="0" y="768532"/>
          <a:ext cx="6692813" cy="599625"/>
        </a:xfrm>
        <a:prstGeom prst="roundRect">
          <a:avLst/>
        </a:prstGeom>
        <a:gradFill rotWithShape="0">
          <a:gsLst>
            <a:gs pos="0">
              <a:schemeClr val="accent2">
                <a:hueOff val="-452075"/>
                <a:satOff val="-276"/>
                <a:lumOff val="1078"/>
                <a:alphaOff val="0"/>
                <a:tint val="96000"/>
                <a:lumMod val="100000"/>
              </a:schemeClr>
            </a:gs>
            <a:gs pos="78000">
              <a:schemeClr val="accent2">
                <a:hueOff val="-452075"/>
                <a:satOff val="-276"/>
                <a:lumOff val="107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s-AF" sz="2500" kern="1200"/>
            <a:t>انواع دیا</a:t>
          </a:r>
          <a:r>
            <a:rPr lang="prs-AF" sz="2500" kern="1200"/>
            <a:t>گرام های شبکه</a:t>
          </a:r>
          <a:endParaRPr lang="en-US" sz="2500" kern="1200"/>
        </a:p>
      </dsp:txBody>
      <dsp:txXfrm>
        <a:off x="29271" y="797803"/>
        <a:ext cx="6634271" cy="541083"/>
      </dsp:txXfrm>
    </dsp:sp>
    <dsp:sp modelId="{708CEAA6-A1F0-4FFA-B88B-64B249BE0C44}">
      <dsp:nvSpPr>
        <dsp:cNvPr id="0" name=""/>
        <dsp:cNvSpPr/>
      </dsp:nvSpPr>
      <dsp:spPr>
        <a:xfrm>
          <a:off x="0" y="1440157"/>
          <a:ext cx="6692813" cy="599625"/>
        </a:xfrm>
        <a:prstGeom prst="roundRect">
          <a:avLst/>
        </a:prstGeom>
        <a:gradFill rotWithShape="0">
          <a:gsLst>
            <a:gs pos="0">
              <a:schemeClr val="accent2">
                <a:hueOff val="-904150"/>
                <a:satOff val="-552"/>
                <a:lumOff val="2157"/>
                <a:alphaOff val="0"/>
                <a:tint val="96000"/>
                <a:lumMod val="100000"/>
              </a:schemeClr>
            </a:gs>
            <a:gs pos="78000">
              <a:schemeClr val="accent2">
                <a:hueOff val="-904150"/>
                <a:satOff val="-552"/>
                <a:lumOff val="215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rs-AF" sz="2500" kern="1200"/>
            <a:t>اجزای مهم شبکه</a:t>
          </a:r>
          <a:endParaRPr lang="en-US" sz="2500" kern="1200"/>
        </a:p>
      </dsp:txBody>
      <dsp:txXfrm>
        <a:off x="29271" y="1469428"/>
        <a:ext cx="6634271" cy="541083"/>
      </dsp:txXfrm>
    </dsp:sp>
    <dsp:sp modelId="{F318F457-8393-4721-915E-B70AB9714523}">
      <dsp:nvSpPr>
        <dsp:cNvPr id="0" name=""/>
        <dsp:cNvSpPr/>
      </dsp:nvSpPr>
      <dsp:spPr>
        <a:xfrm>
          <a:off x="0" y="2111782"/>
          <a:ext cx="6692813" cy="599625"/>
        </a:xfrm>
        <a:prstGeom prst="roundRect">
          <a:avLst/>
        </a:prstGeom>
        <a:gradFill rotWithShape="0">
          <a:gsLst>
            <a:gs pos="0">
              <a:schemeClr val="accent2">
                <a:hueOff val="-1356225"/>
                <a:satOff val="-828"/>
                <a:lumOff val="3235"/>
                <a:alphaOff val="0"/>
                <a:tint val="96000"/>
                <a:lumMod val="100000"/>
              </a:schemeClr>
            </a:gs>
            <a:gs pos="78000">
              <a:schemeClr val="accent2">
                <a:hueOff val="-1356225"/>
                <a:satOff val="-828"/>
                <a:lumOff val="3235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rs-AF" sz="2500" kern="1200"/>
            <a:t>توپولوژی شبکه</a:t>
          </a:r>
          <a:endParaRPr lang="en-US" sz="2500" kern="1200"/>
        </a:p>
      </dsp:txBody>
      <dsp:txXfrm>
        <a:off x="29271" y="2141053"/>
        <a:ext cx="6634271" cy="541083"/>
      </dsp:txXfrm>
    </dsp:sp>
    <dsp:sp modelId="{0DDAD5B0-AAE8-40BF-AD28-2179F5E48075}">
      <dsp:nvSpPr>
        <dsp:cNvPr id="0" name=""/>
        <dsp:cNvSpPr/>
      </dsp:nvSpPr>
      <dsp:spPr>
        <a:xfrm>
          <a:off x="0" y="2783407"/>
          <a:ext cx="6692813" cy="599625"/>
        </a:xfrm>
        <a:prstGeom prst="roundRect">
          <a:avLst/>
        </a:prstGeom>
        <a:gradFill rotWithShape="0">
          <a:gsLst>
            <a:gs pos="0">
              <a:schemeClr val="accent2">
                <a:hueOff val="-1808300"/>
                <a:satOff val="-1104"/>
                <a:lumOff val="4314"/>
                <a:alphaOff val="0"/>
                <a:tint val="96000"/>
                <a:lumMod val="100000"/>
              </a:schemeClr>
            </a:gs>
            <a:gs pos="78000">
              <a:schemeClr val="accent2">
                <a:hueOff val="-1808300"/>
                <a:satOff val="-1104"/>
                <a:lumOff val="4314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s-AF" sz="2500" kern="1200"/>
            <a:t>کار عملی (طراحی دیا</a:t>
          </a:r>
          <a:r>
            <a:rPr lang="prs-AF" sz="2500" kern="1200"/>
            <a:t>گ</a:t>
          </a:r>
          <a:r>
            <a:rPr lang="ps-AF" sz="2500" kern="1200"/>
            <a:t>رام شبکه) </a:t>
          </a:r>
          <a:endParaRPr lang="en-US" sz="2500" kern="1200"/>
        </a:p>
      </dsp:txBody>
      <dsp:txXfrm>
        <a:off x="29271" y="2812678"/>
        <a:ext cx="6634271" cy="541083"/>
      </dsp:txXfrm>
    </dsp:sp>
    <dsp:sp modelId="{D3F92ABD-D967-4A92-AE7F-57DAD0C69BED}">
      <dsp:nvSpPr>
        <dsp:cNvPr id="0" name=""/>
        <dsp:cNvSpPr/>
      </dsp:nvSpPr>
      <dsp:spPr>
        <a:xfrm>
          <a:off x="0" y="3455032"/>
          <a:ext cx="6692813" cy="599625"/>
        </a:xfrm>
        <a:prstGeom prst="roundRect">
          <a:avLst/>
        </a:prstGeom>
        <a:gradFill rotWithShape="0">
          <a:gsLst>
            <a:gs pos="0">
              <a:schemeClr val="accent2">
                <a:hueOff val="-2260375"/>
                <a:satOff val="-1380"/>
                <a:lumOff val="5392"/>
                <a:alphaOff val="0"/>
                <a:tint val="96000"/>
                <a:lumMod val="100000"/>
              </a:schemeClr>
            </a:gs>
            <a:gs pos="78000">
              <a:schemeClr val="accent2">
                <a:hueOff val="-2260375"/>
                <a:satOff val="-1380"/>
                <a:lumOff val="5392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rs-AF" sz="2500" kern="1200"/>
            <a:t>سناریو تمرین انفرادی / گروپی</a:t>
          </a:r>
          <a:endParaRPr lang="en-US" sz="2500" kern="1200"/>
        </a:p>
      </dsp:txBody>
      <dsp:txXfrm>
        <a:off x="29271" y="3484303"/>
        <a:ext cx="6634271" cy="541083"/>
      </dsp:txXfrm>
    </dsp:sp>
    <dsp:sp modelId="{C45C249D-06C3-4A63-BF0D-DD39011D0FD5}">
      <dsp:nvSpPr>
        <dsp:cNvPr id="0" name=""/>
        <dsp:cNvSpPr/>
      </dsp:nvSpPr>
      <dsp:spPr>
        <a:xfrm>
          <a:off x="0" y="4126657"/>
          <a:ext cx="6692813" cy="599625"/>
        </a:xfrm>
        <a:prstGeom prst="roundRect">
          <a:avLst/>
        </a:prstGeom>
        <a:gradFill rotWithShape="0">
          <a:gsLst>
            <a:gs pos="0">
              <a:schemeClr val="accent2">
                <a:hueOff val="-2712450"/>
                <a:satOff val="-1656"/>
                <a:lumOff val="6471"/>
                <a:alphaOff val="0"/>
                <a:tint val="96000"/>
                <a:lumMod val="100000"/>
              </a:schemeClr>
            </a:gs>
            <a:gs pos="78000">
              <a:schemeClr val="accent2">
                <a:hueOff val="-2712450"/>
                <a:satOff val="-1656"/>
                <a:lumOff val="6471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500" b="0" i="0" kern="1200" baseline="0" dirty="0"/>
            <a:t>جمع‌بندی، سوال و جواب، آمادگی برای روز </a:t>
          </a:r>
          <a:r>
            <a:rPr lang="ps-AF" sz="2500" kern="1200" dirty="0"/>
            <a:t>سوم</a:t>
          </a:r>
          <a:endParaRPr lang="en-US" sz="2500" kern="1200" dirty="0"/>
        </a:p>
      </dsp:txBody>
      <dsp:txXfrm>
        <a:off x="29271" y="4155928"/>
        <a:ext cx="6634271" cy="54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25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1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5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1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0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27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53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89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3992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46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27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293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22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5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188E37-BF69-4CAF-96A1-1C16A9D83FA0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99E005-7618-46E8-BCE0-FF8098C4B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55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7D13-2511-8840-07F8-462B6BC74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9990" y="1793584"/>
            <a:ext cx="8707946" cy="1646302"/>
          </a:xfrm>
        </p:spPr>
        <p:txBody>
          <a:bodyPr/>
          <a:lstStyle/>
          <a:p>
            <a:br>
              <a:rPr lang="en-US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r>
              <a:rPr lang="fa-IR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آموزش</a:t>
            </a:r>
            <a:r>
              <a:rPr lang="ps-AF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برنامه</a:t>
            </a:r>
            <a:r>
              <a:rPr lang="fa-IR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مایکروسافت ویزیو</a:t>
            </a:r>
            <a:endParaRPr lang="en-US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69445-F72A-0881-3CFB-90EA396BA2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626290"/>
            <a:ext cx="7766936" cy="2230224"/>
          </a:xfrm>
        </p:spPr>
        <p:txBody>
          <a:bodyPr>
            <a:normAutofit/>
          </a:bodyPr>
          <a:lstStyle/>
          <a:p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راهنمای کاربردی برای طراحی </a:t>
            </a:r>
            <a:r>
              <a:rPr lang="p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دیا</a:t>
            </a:r>
            <a: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گرام ها</a:t>
            </a: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و فلوچارت‌ها</a:t>
            </a:r>
            <a:b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br>
              <a:rPr lang="prs-AF" b="1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endParaRPr lang="prs-AF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  <a:p>
            <a:pPr>
              <a:lnSpc>
                <a:spcPct val="160000"/>
              </a:lnSpc>
            </a:pP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تاریخ: </a:t>
            </a:r>
            <a:r>
              <a:rPr lang="p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۲-۳</a:t>
            </a:r>
            <a: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pr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اگست</a:t>
            </a:r>
            <a: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 ۲۰۲۵</a:t>
            </a:r>
            <a:br>
              <a:rPr lang="fa-IR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</a:b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ارائه</a:t>
            </a:r>
            <a:r>
              <a:rPr lang="p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fa-IR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‌دهنده:</a:t>
            </a:r>
            <a:r>
              <a:rPr lang="prs-AF" sz="20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 </a:t>
            </a:r>
            <a:r>
              <a:rPr lang="pr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احمد میلاد کاک</a:t>
            </a:r>
            <a:r>
              <a:rPr lang="ps-AF" sz="2000" dirty="0">
                <a:latin typeface="Bahij Nazanin" panose="02040703060201020203" pitchFamily="18" charset="-78"/>
                <a:cs typeface="Bahij Nazanin" panose="02040703060201020203" pitchFamily="18" charset="-78"/>
              </a:rPr>
              <a:t>ړ</a:t>
            </a:r>
            <a:endParaRPr lang="fa-IR" sz="2000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  <a:p>
            <a:endParaRPr lang="en-US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  <p:pic>
        <p:nvPicPr>
          <p:cNvPr id="4" name="Image 1">
            <a:extLst>
              <a:ext uri="{FF2B5EF4-FFF2-40B4-BE49-F238E27FC236}">
                <a16:creationId xmlns:a16="http://schemas.microsoft.com/office/drawing/2014/main" id="{78EEC219-9264-64AA-0246-B04599FF3B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395" y="696685"/>
            <a:ext cx="2136776" cy="1295401"/>
          </a:xfrm>
          <a:prstGeom prst="rect">
            <a:avLst/>
          </a:prstGeom>
        </p:spPr>
      </p:pic>
      <p:pic>
        <p:nvPicPr>
          <p:cNvPr id="5" name="Image 1">
            <a:extLst>
              <a:ext uri="{FF2B5EF4-FFF2-40B4-BE49-F238E27FC236}">
                <a16:creationId xmlns:a16="http://schemas.microsoft.com/office/drawing/2014/main" id="{195AA7B5-7AB9-DE49-FAAA-E131CE6C427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477000" y="1197429"/>
            <a:ext cx="2577419" cy="79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E5ED-F223-1E6F-C4C8-655339221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855" y="2068286"/>
            <a:ext cx="8288032" cy="177437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s-AF" sz="9600" b="1" dirty="0">
                <a:latin typeface="Bahij Nazanin" panose="02040703060201020203" pitchFamily="18" charset="-78"/>
                <a:cs typeface="Bahij Nazanin" panose="02040703060201020203" pitchFamily="18" charset="-78"/>
              </a:rPr>
              <a:t>روز ۲</a:t>
            </a:r>
            <a:endParaRPr lang="en-US" sz="9600" b="1" dirty="0">
              <a:latin typeface="Bahij Nazanin" panose="02040703060201020203" pitchFamily="18" charset="-78"/>
              <a:cs typeface="Bahij Nazanin" panose="0204070306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622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5AA8A5-25CC-4295-892F-367FCDAF2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DD65AA-8280-4962-92F3-DF1CB5334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9068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8942788-FC6D-44C2-BFC1-6F064710DA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1093AC6-E5C2-4894-A520-5BE11049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F2EF9281-EAD8-4973-938C-52DECCD0F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F4D52681-7A79-4750-8E02-7C30DBAFE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F132E88E-8003-49D3-88BD-E18DF6965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8C986A99-157C-40D0-97AD-371B6F55E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264123D5-6D32-4F54-BAD5-43A5BAF6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FCA8C06-6A3E-4C39-9EF2-117987331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3F93416A-6C44-4D77-A94A-DEBC035EA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1266CF-7F5A-A203-3EFA-B3AC2C5A7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pPr rtl="1"/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اجندای روز </a:t>
            </a:r>
            <a:r>
              <a:rPr lang="ps-AF" sz="4400" dirty="0">
                <a:solidFill>
                  <a:schemeClr val="accent1">
                    <a:lumMod val="75000"/>
                  </a:schemeClr>
                </a:solidFill>
              </a:rPr>
              <a:t>دوم</a:t>
            </a:r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 برنامه آموزشی</a:t>
            </a:r>
            <a:br>
              <a:rPr lang="ps-AF" sz="4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fa-IR" sz="4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400" dirty="0">
                <a:solidFill>
                  <a:schemeClr val="accent1">
                    <a:lumMod val="75000"/>
                  </a:schemeClr>
                </a:solidFill>
              </a:rPr>
              <a:t>Microsoft Visio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C6BC13-FB1E-48CC-B421-3D0603972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42625" y="0"/>
            <a:ext cx="64493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6A07A9-6BD2-172F-0CFE-463D01EE5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396402"/>
              </p:ext>
            </p:extLst>
          </p:nvPr>
        </p:nvGraphicFramePr>
        <p:xfrm>
          <a:off x="4852543" y="944564"/>
          <a:ext cx="6692814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629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15182CB-49B3-4BFD-B09A-7E1C856D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42047"/>
            <a:ext cx="8596312" cy="708212"/>
          </a:xfrm>
        </p:spPr>
        <p:txBody>
          <a:bodyPr/>
          <a:lstStyle/>
          <a:p>
            <a:pPr algn="ctr" eaLnBrk="1" hangingPunct="1"/>
            <a:r>
              <a:rPr lang="fa-IR" b="1" dirty="0"/>
              <a:t>مقررات آموزش</a:t>
            </a:r>
            <a:endParaRPr lang="en-US" b="1" dirty="0"/>
          </a:p>
        </p:txBody>
      </p:sp>
      <p:grpSp>
        <p:nvGrpSpPr>
          <p:cNvPr id="7" name="Group 142">
            <a:extLst>
              <a:ext uri="{FF2B5EF4-FFF2-40B4-BE49-F238E27FC236}">
                <a16:creationId xmlns:a16="http://schemas.microsoft.com/office/drawing/2014/main" id="{984A9C4A-FDCF-47AC-BBBC-A91F282AE252}"/>
              </a:ext>
            </a:extLst>
          </p:cNvPr>
          <p:cNvGrpSpPr/>
          <p:nvPr/>
        </p:nvGrpSpPr>
        <p:grpSpPr bwMode="auto">
          <a:xfrm>
            <a:off x="7294468" y="3848393"/>
            <a:ext cx="1561763" cy="1389025"/>
            <a:chOff x="7313613" y="1139825"/>
            <a:chExt cx="1036" cy="1486"/>
          </a:xfrm>
        </p:grpSpPr>
        <p:pic>
          <p:nvPicPr>
            <p:cNvPr id="8" name="Picture 7" descr="ALW00086">
              <a:extLst>
                <a:ext uri="{FF2B5EF4-FFF2-40B4-BE49-F238E27FC236}">
                  <a16:creationId xmlns:a16="http://schemas.microsoft.com/office/drawing/2014/main" id="{A471AE00-0853-4226-A6C6-14B743964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13613" y="1139825"/>
              <a:ext cx="1036" cy="14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2EB95A8B-1F72-4D49-A6D4-168337A43909}"/>
                </a:ext>
              </a:extLst>
            </p:cNvPr>
            <p:cNvSpPr>
              <a:spLocks/>
            </p:cNvSpPr>
            <p:nvPr/>
          </p:nvSpPr>
          <p:spPr bwMode="auto">
            <a:xfrm rot="4453325">
              <a:off x="7314010" y="1140528"/>
              <a:ext cx="361" cy="676"/>
            </a:xfrm>
            <a:custGeom>
              <a:avLst/>
              <a:gdLst>
                <a:gd name="T0" fmla="*/ 2 w 769"/>
                <a:gd name="T1" fmla="*/ 183 h 951"/>
                <a:gd name="T2" fmla="*/ 5 w 769"/>
                <a:gd name="T3" fmla="*/ 156 h 951"/>
                <a:gd name="T4" fmla="*/ 8 w 769"/>
                <a:gd name="T5" fmla="*/ 130 h 951"/>
                <a:gd name="T6" fmla="*/ 11 w 769"/>
                <a:gd name="T7" fmla="*/ 108 h 951"/>
                <a:gd name="T8" fmla="*/ 15 w 769"/>
                <a:gd name="T9" fmla="*/ 87 h 951"/>
                <a:gd name="T10" fmla="*/ 18 w 769"/>
                <a:gd name="T11" fmla="*/ 70 h 951"/>
                <a:gd name="T12" fmla="*/ 21 w 769"/>
                <a:gd name="T13" fmla="*/ 54 h 951"/>
                <a:gd name="T14" fmla="*/ 23 w 769"/>
                <a:gd name="T15" fmla="*/ 41 h 951"/>
                <a:gd name="T16" fmla="*/ 26 w 769"/>
                <a:gd name="T17" fmla="*/ 29 h 951"/>
                <a:gd name="T18" fmla="*/ 28 w 769"/>
                <a:gd name="T19" fmla="*/ 21 h 951"/>
                <a:gd name="T20" fmla="*/ 30 w 769"/>
                <a:gd name="T21" fmla="*/ 14 h 951"/>
                <a:gd name="T22" fmla="*/ 31 w 769"/>
                <a:gd name="T23" fmla="*/ 9 h 951"/>
                <a:gd name="T24" fmla="*/ 32 w 769"/>
                <a:gd name="T25" fmla="*/ 6 h 951"/>
                <a:gd name="T26" fmla="*/ 34 w 769"/>
                <a:gd name="T27" fmla="*/ 3 h 951"/>
                <a:gd name="T28" fmla="*/ 35 w 769"/>
                <a:gd name="T29" fmla="*/ 1 h 951"/>
                <a:gd name="T30" fmla="*/ 36 w 769"/>
                <a:gd name="T31" fmla="*/ 0 h 951"/>
                <a:gd name="T32" fmla="*/ 36 w 769"/>
                <a:gd name="T33" fmla="*/ 0 h 951"/>
                <a:gd name="T34" fmla="*/ 37 w 769"/>
                <a:gd name="T35" fmla="*/ 1 h 951"/>
                <a:gd name="T36" fmla="*/ 37 w 769"/>
                <a:gd name="T37" fmla="*/ 1 h 951"/>
                <a:gd name="T38" fmla="*/ 37 w 769"/>
                <a:gd name="T39" fmla="*/ 3 h 951"/>
                <a:gd name="T40" fmla="*/ 37 w 769"/>
                <a:gd name="T41" fmla="*/ 6 h 951"/>
                <a:gd name="T42" fmla="*/ 37 w 769"/>
                <a:gd name="T43" fmla="*/ 8 h 951"/>
                <a:gd name="T44" fmla="*/ 37 w 769"/>
                <a:gd name="T45" fmla="*/ 11 h 951"/>
                <a:gd name="T46" fmla="*/ 37 w 769"/>
                <a:gd name="T47" fmla="*/ 12 h 951"/>
                <a:gd name="T48" fmla="*/ 37 w 769"/>
                <a:gd name="T49" fmla="*/ 14 h 951"/>
                <a:gd name="T50" fmla="*/ 36 w 769"/>
                <a:gd name="T51" fmla="*/ 16 h 951"/>
                <a:gd name="T52" fmla="*/ 36 w 769"/>
                <a:gd name="T53" fmla="*/ 16 h 951"/>
                <a:gd name="T54" fmla="*/ 35 w 769"/>
                <a:gd name="T55" fmla="*/ 18 h 951"/>
                <a:gd name="T56" fmla="*/ 35 w 769"/>
                <a:gd name="T57" fmla="*/ 18 h 951"/>
                <a:gd name="T58" fmla="*/ 35 w 769"/>
                <a:gd name="T59" fmla="*/ 19 h 951"/>
                <a:gd name="T60" fmla="*/ 35 w 769"/>
                <a:gd name="T61" fmla="*/ 19 h 951"/>
                <a:gd name="T62" fmla="*/ 31 w 769"/>
                <a:gd name="T63" fmla="*/ 31 h 951"/>
                <a:gd name="T64" fmla="*/ 28 w 769"/>
                <a:gd name="T65" fmla="*/ 48 h 951"/>
                <a:gd name="T66" fmla="*/ 24 w 769"/>
                <a:gd name="T67" fmla="*/ 68 h 951"/>
                <a:gd name="T68" fmla="*/ 21 w 769"/>
                <a:gd name="T69" fmla="*/ 92 h 951"/>
                <a:gd name="T70" fmla="*/ 18 w 769"/>
                <a:gd name="T71" fmla="*/ 116 h 951"/>
                <a:gd name="T72" fmla="*/ 15 w 769"/>
                <a:gd name="T73" fmla="*/ 141 h 951"/>
                <a:gd name="T74" fmla="*/ 13 w 769"/>
                <a:gd name="T75" fmla="*/ 165 h 951"/>
                <a:gd name="T76" fmla="*/ 11 w 769"/>
                <a:gd name="T77" fmla="*/ 186 h 951"/>
                <a:gd name="T78" fmla="*/ 9 w 769"/>
                <a:gd name="T79" fmla="*/ 205 h 951"/>
                <a:gd name="T80" fmla="*/ 8 w 769"/>
                <a:gd name="T81" fmla="*/ 220 h 951"/>
                <a:gd name="T82" fmla="*/ 7 w 769"/>
                <a:gd name="T83" fmla="*/ 229 h 951"/>
                <a:gd name="T84" fmla="*/ 7 w 769"/>
                <a:gd name="T85" fmla="*/ 235 h 951"/>
                <a:gd name="T86" fmla="*/ 6 w 769"/>
                <a:gd name="T87" fmla="*/ 240 h 951"/>
                <a:gd name="T88" fmla="*/ 5 w 769"/>
                <a:gd name="T89" fmla="*/ 242 h 951"/>
                <a:gd name="T90" fmla="*/ 4 w 769"/>
                <a:gd name="T91" fmla="*/ 243 h 951"/>
                <a:gd name="T92" fmla="*/ 3 w 769"/>
                <a:gd name="T93" fmla="*/ 242 h 951"/>
                <a:gd name="T94" fmla="*/ 2 w 769"/>
                <a:gd name="T95" fmla="*/ 241 h 951"/>
                <a:gd name="T96" fmla="*/ 2 w 769"/>
                <a:gd name="T97" fmla="*/ 240 h 951"/>
                <a:gd name="T98" fmla="*/ 1 w 769"/>
                <a:gd name="T99" fmla="*/ 239 h 951"/>
                <a:gd name="T100" fmla="*/ 1 w 769"/>
                <a:gd name="T101" fmla="*/ 238 h 951"/>
                <a:gd name="T102" fmla="*/ 1 w 769"/>
                <a:gd name="T103" fmla="*/ 238 h 951"/>
                <a:gd name="T104" fmla="*/ 1 w 769"/>
                <a:gd name="T105" fmla="*/ 237 h 951"/>
                <a:gd name="T106" fmla="*/ 0 w 769"/>
                <a:gd name="T107" fmla="*/ 235 h 951"/>
                <a:gd name="T108" fmla="*/ 0 w 769"/>
                <a:gd name="T109" fmla="*/ 232 h 951"/>
                <a:gd name="T110" fmla="*/ 0 w 769"/>
                <a:gd name="T111" fmla="*/ 227 h 951"/>
                <a:gd name="T112" fmla="*/ 0 w 769"/>
                <a:gd name="T113" fmla="*/ 222 h 951"/>
                <a:gd name="T114" fmla="*/ 0 w 769"/>
                <a:gd name="T115" fmla="*/ 215 h 951"/>
                <a:gd name="T116" fmla="*/ 0 w 769"/>
                <a:gd name="T117" fmla="*/ 205 h 951"/>
                <a:gd name="T118" fmla="*/ 1 w 769"/>
                <a:gd name="T119" fmla="*/ 195 h 951"/>
                <a:gd name="T120" fmla="*/ 2 w 769"/>
                <a:gd name="T121" fmla="*/ 183 h 951"/>
                <a:gd name="T122" fmla="*/ 2 w 769"/>
                <a:gd name="T123" fmla="*/ 183 h 951"/>
                <a:gd name="T124" fmla="*/ 2 w 769"/>
                <a:gd name="T125" fmla="*/ 183 h 9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769"/>
                <a:gd name="T190" fmla="*/ 0 h 951"/>
                <a:gd name="T191" fmla="*/ 769 w 769"/>
                <a:gd name="T192" fmla="*/ 951 h 951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769" h="951">
                  <a:moveTo>
                    <a:pt x="41" y="715"/>
                  </a:moveTo>
                  <a:lnTo>
                    <a:pt x="103" y="610"/>
                  </a:lnTo>
                  <a:lnTo>
                    <a:pt x="169" y="511"/>
                  </a:lnTo>
                  <a:lnTo>
                    <a:pt x="233" y="423"/>
                  </a:lnTo>
                  <a:lnTo>
                    <a:pt x="299" y="343"/>
                  </a:lnTo>
                  <a:lnTo>
                    <a:pt x="362" y="273"/>
                  </a:lnTo>
                  <a:lnTo>
                    <a:pt x="424" y="211"/>
                  </a:lnTo>
                  <a:lnTo>
                    <a:pt x="480" y="157"/>
                  </a:lnTo>
                  <a:lnTo>
                    <a:pt x="532" y="114"/>
                  </a:lnTo>
                  <a:lnTo>
                    <a:pt x="577" y="80"/>
                  </a:lnTo>
                  <a:lnTo>
                    <a:pt x="614" y="55"/>
                  </a:lnTo>
                  <a:lnTo>
                    <a:pt x="644" y="37"/>
                  </a:lnTo>
                  <a:lnTo>
                    <a:pt x="671" y="23"/>
                  </a:lnTo>
                  <a:lnTo>
                    <a:pt x="693" y="13"/>
                  </a:lnTo>
                  <a:lnTo>
                    <a:pt x="713" y="4"/>
                  </a:lnTo>
                  <a:lnTo>
                    <a:pt x="729" y="0"/>
                  </a:lnTo>
                  <a:lnTo>
                    <a:pt x="743" y="0"/>
                  </a:lnTo>
                  <a:lnTo>
                    <a:pt x="752" y="2"/>
                  </a:lnTo>
                  <a:lnTo>
                    <a:pt x="761" y="6"/>
                  </a:lnTo>
                  <a:lnTo>
                    <a:pt x="765" y="13"/>
                  </a:lnTo>
                  <a:lnTo>
                    <a:pt x="769" y="21"/>
                  </a:lnTo>
                  <a:lnTo>
                    <a:pt x="769" y="31"/>
                  </a:lnTo>
                  <a:lnTo>
                    <a:pt x="765" y="41"/>
                  </a:lnTo>
                  <a:lnTo>
                    <a:pt x="759" y="48"/>
                  </a:lnTo>
                  <a:lnTo>
                    <a:pt x="752" y="55"/>
                  </a:lnTo>
                  <a:lnTo>
                    <a:pt x="744" y="62"/>
                  </a:lnTo>
                  <a:lnTo>
                    <a:pt x="736" y="66"/>
                  </a:lnTo>
                  <a:lnTo>
                    <a:pt x="727" y="70"/>
                  </a:lnTo>
                  <a:lnTo>
                    <a:pt x="722" y="73"/>
                  </a:lnTo>
                  <a:lnTo>
                    <a:pt x="716" y="75"/>
                  </a:lnTo>
                  <a:lnTo>
                    <a:pt x="715" y="76"/>
                  </a:lnTo>
                  <a:lnTo>
                    <a:pt x="639" y="121"/>
                  </a:lnTo>
                  <a:lnTo>
                    <a:pt x="566" y="187"/>
                  </a:lnTo>
                  <a:lnTo>
                    <a:pt x="496" y="267"/>
                  </a:lnTo>
                  <a:lnTo>
                    <a:pt x="430" y="358"/>
                  </a:lnTo>
                  <a:lnTo>
                    <a:pt x="369" y="454"/>
                  </a:lnTo>
                  <a:lnTo>
                    <a:pt x="313" y="552"/>
                  </a:lnTo>
                  <a:lnTo>
                    <a:pt x="265" y="645"/>
                  </a:lnTo>
                  <a:lnTo>
                    <a:pt x="225" y="730"/>
                  </a:lnTo>
                  <a:lnTo>
                    <a:pt x="193" y="803"/>
                  </a:lnTo>
                  <a:lnTo>
                    <a:pt x="169" y="858"/>
                  </a:lnTo>
                  <a:lnTo>
                    <a:pt x="150" y="896"/>
                  </a:lnTo>
                  <a:lnTo>
                    <a:pt x="131" y="923"/>
                  </a:lnTo>
                  <a:lnTo>
                    <a:pt x="113" y="940"/>
                  </a:lnTo>
                  <a:lnTo>
                    <a:pt x="93" y="948"/>
                  </a:lnTo>
                  <a:lnTo>
                    <a:pt x="76" y="951"/>
                  </a:lnTo>
                  <a:lnTo>
                    <a:pt x="61" y="948"/>
                  </a:lnTo>
                  <a:lnTo>
                    <a:pt x="47" y="944"/>
                  </a:lnTo>
                  <a:lnTo>
                    <a:pt x="37" y="938"/>
                  </a:lnTo>
                  <a:lnTo>
                    <a:pt x="30" y="934"/>
                  </a:lnTo>
                  <a:lnTo>
                    <a:pt x="28" y="931"/>
                  </a:lnTo>
                  <a:lnTo>
                    <a:pt x="26" y="931"/>
                  </a:lnTo>
                  <a:lnTo>
                    <a:pt x="21" y="927"/>
                  </a:lnTo>
                  <a:lnTo>
                    <a:pt x="14" y="918"/>
                  </a:lnTo>
                  <a:lnTo>
                    <a:pt x="9" y="907"/>
                  </a:lnTo>
                  <a:lnTo>
                    <a:pt x="3" y="890"/>
                  </a:lnTo>
                  <a:lnTo>
                    <a:pt x="0" y="869"/>
                  </a:lnTo>
                  <a:lnTo>
                    <a:pt x="2" y="841"/>
                  </a:lnTo>
                  <a:lnTo>
                    <a:pt x="7" y="806"/>
                  </a:lnTo>
                  <a:lnTo>
                    <a:pt x="20" y="765"/>
                  </a:lnTo>
                  <a:lnTo>
                    <a:pt x="41" y="716"/>
                  </a:lnTo>
                  <a:lnTo>
                    <a:pt x="41" y="715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84F0A20A-B68E-49F7-9589-1E58BC5E791A}"/>
                </a:ext>
              </a:extLst>
            </p:cNvPr>
            <p:cNvSpPr>
              <a:spLocks/>
            </p:cNvSpPr>
            <p:nvPr/>
          </p:nvSpPr>
          <p:spPr bwMode="auto">
            <a:xfrm rot="4453325">
              <a:off x="7313947" y="1140501"/>
              <a:ext cx="441" cy="701"/>
            </a:xfrm>
            <a:custGeom>
              <a:avLst/>
              <a:gdLst>
                <a:gd name="T0" fmla="*/ 21 w 825"/>
                <a:gd name="T1" fmla="*/ 14 h 1222"/>
                <a:gd name="T2" fmla="*/ 29 w 825"/>
                <a:gd name="T3" fmla="*/ 26 h 1222"/>
                <a:gd name="T4" fmla="*/ 36 w 825"/>
                <a:gd name="T5" fmla="*/ 38 h 1222"/>
                <a:gd name="T6" fmla="*/ 42 w 825"/>
                <a:gd name="T7" fmla="*/ 50 h 1222"/>
                <a:gd name="T8" fmla="*/ 48 w 825"/>
                <a:gd name="T9" fmla="*/ 62 h 1222"/>
                <a:gd name="T10" fmla="*/ 52 w 825"/>
                <a:gd name="T11" fmla="*/ 72 h 1222"/>
                <a:gd name="T12" fmla="*/ 56 w 825"/>
                <a:gd name="T13" fmla="*/ 83 h 1222"/>
                <a:gd name="T14" fmla="*/ 59 w 825"/>
                <a:gd name="T15" fmla="*/ 92 h 1222"/>
                <a:gd name="T16" fmla="*/ 62 w 825"/>
                <a:gd name="T17" fmla="*/ 100 h 1222"/>
                <a:gd name="T18" fmla="*/ 64 w 825"/>
                <a:gd name="T19" fmla="*/ 107 h 1222"/>
                <a:gd name="T20" fmla="*/ 65 w 825"/>
                <a:gd name="T21" fmla="*/ 112 h 1222"/>
                <a:gd name="T22" fmla="*/ 66 w 825"/>
                <a:gd name="T23" fmla="*/ 117 h 1222"/>
                <a:gd name="T24" fmla="*/ 67 w 825"/>
                <a:gd name="T25" fmla="*/ 121 h 1222"/>
                <a:gd name="T26" fmla="*/ 67 w 825"/>
                <a:gd name="T27" fmla="*/ 124 h 1222"/>
                <a:gd name="T28" fmla="*/ 67 w 825"/>
                <a:gd name="T29" fmla="*/ 127 h 1222"/>
                <a:gd name="T30" fmla="*/ 67 w 825"/>
                <a:gd name="T31" fmla="*/ 128 h 1222"/>
                <a:gd name="T32" fmla="*/ 67 w 825"/>
                <a:gd name="T33" fmla="*/ 130 h 1222"/>
                <a:gd name="T34" fmla="*/ 67 w 825"/>
                <a:gd name="T35" fmla="*/ 131 h 1222"/>
                <a:gd name="T36" fmla="*/ 66 w 825"/>
                <a:gd name="T37" fmla="*/ 133 h 1222"/>
                <a:gd name="T38" fmla="*/ 65 w 825"/>
                <a:gd name="T39" fmla="*/ 133 h 1222"/>
                <a:gd name="T40" fmla="*/ 65 w 825"/>
                <a:gd name="T41" fmla="*/ 133 h 1222"/>
                <a:gd name="T42" fmla="*/ 64 w 825"/>
                <a:gd name="T43" fmla="*/ 132 h 1222"/>
                <a:gd name="T44" fmla="*/ 63 w 825"/>
                <a:gd name="T45" fmla="*/ 131 h 1222"/>
                <a:gd name="T46" fmla="*/ 63 w 825"/>
                <a:gd name="T47" fmla="*/ 130 h 1222"/>
                <a:gd name="T48" fmla="*/ 63 w 825"/>
                <a:gd name="T49" fmla="*/ 129 h 1222"/>
                <a:gd name="T50" fmla="*/ 61 w 825"/>
                <a:gd name="T51" fmla="*/ 127 h 1222"/>
                <a:gd name="T52" fmla="*/ 61 w 825"/>
                <a:gd name="T53" fmla="*/ 126 h 1222"/>
                <a:gd name="T54" fmla="*/ 61 w 825"/>
                <a:gd name="T55" fmla="*/ 125 h 1222"/>
                <a:gd name="T56" fmla="*/ 61 w 825"/>
                <a:gd name="T57" fmla="*/ 124 h 1222"/>
                <a:gd name="T58" fmla="*/ 61 w 825"/>
                <a:gd name="T59" fmla="*/ 124 h 1222"/>
                <a:gd name="T60" fmla="*/ 61 w 825"/>
                <a:gd name="T61" fmla="*/ 123 h 1222"/>
                <a:gd name="T62" fmla="*/ 59 w 825"/>
                <a:gd name="T63" fmla="*/ 112 h 1222"/>
                <a:gd name="T64" fmla="*/ 55 w 825"/>
                <a:gd name="T65" fmla="*/ 101 h 1222"/>
                <a:gd name="T66" fmla="*/ 50 w 825"/>
                <a:gd name="T67" fmla="*/ 88 h 1222"/>
                <a:gd name="T68" fmla="*/ 43 w 825"/>
                <a:gd name="T69" fmla="*/ 76 h 1222"/>
                <a:gd name="T70" fmla="*/ 36 w 825"/>
                <a:gd name="T71" fmla="*/ 64 h 1222"/>
                <a:gd name="T72" fmla="*/ 29 w 825"/>
                <a:gd name="T73" fmla="*/ 53 h 1222"/>
                <a:gd name="T74" fmla="*/ 22 w 825"/>
                <a:gd name="T75" fmla="*/ 43 h 1222"/>
                <a:gd name="T76" fmla="*/ 16 w 825"/>
                <a:gd name="T77" fmla="*/ 34 h 1222"/>
                <a:gd name="T78" fmla="*/ 10 w 825"/>
                <a:gd name="T79" fmla="*/ 26 h 1222"/>
                <a:gd name="T80" fmla="*/ 6 w 825"/>
                <a:gd name="T81" fmla="*/ 21 h 1222"/>
                <a:gd name="T82" fmla="*/ 3 w 825"/>
                <a:gd name="T83" fmla="*/ 17 h 1222"/>
                <a:gd name="T84" fmla="*/ 2 w 825"/>
                <a:gd name="T85" fmla="*/ 14 h 1222"/>
                <a:gd name="T86" fmla="*/ 1 w 825"/>
                <a:gd name="T87" fmla="*/ 10 h 1222"/>
                <a:gd name="T88" fmla="*/ 0 w 825"/>
                <a:gd name="T89" fmla="*/ 8 h 1222"/>
                <a:gd name="T90" fmla="*/ 1 w 825"/>
                <a:gd name="T91" fmla="*/ 6 h 1222"/>
                <a:gd name="T92" fmla="*/ 1 w 825"/>
                <a:gd name="T93" fmla="*/ 4 h 1222"/>
                <a:gd name="T94" fmla="*/ 2 w 825"/>
                <a:gd name="T95" fmla="*/ 3 h 1222"/>
                <a:gd name="T96" fmla="*/ 2 w 825"/>
                <a:gd name="T97" fmla="*/ 2 h 1222"/>
                <a:gd name="T98" fmla="*/ 3 w 825"/>
                <a:gd name="T99" fmla="*/ 1 h 1222"/>
                <a:gd name="T100" fmla="*/ 3 w 825"/>
                <a:gd name="T101" fmla="*/ 1 h 1222"/>
                <a:gd name="T102" fmla="*/ 3 w 825"/>
                <a:gd name="T103" fmla="*/ 1 h 1222"/>
                <a:gd name="T104" fmla="*/ 4 w 825"/>
                <a:gd name="T105" fmla="*/ 1 h 1222"/>
                <a:gd name="T106" fmla="*/ 4 w 825"/>
                <a:gd name="T107" fmla="*/ 1 h 1222"/>
                <a:gd name="T108" fmla="*/ 5 w 825"/>
                <a:gd name="T109" fmla="*/ 0 h 1222"/>
                <a:gd name="T110" fmla="*/ 7 w 825"/>
                <a:gd name="T111" fmla="*/ 1 h 1222"/>
                <a:gd name="T112" fmla="*/ 9 w 825"/>
                <a:gd name="T113" fmla="*/ 1 h 1222"/>
                <a:gd name="T114" fmla="*/ 11 w 825"/>
                <a:gd name="T115" fmla="*/ 2 h 1222"/>
                <a:gd name="T116" fmla="*/ 14 w 825"/>
                <a:gd name="T117" fmla="*/ 5 h 1222"/>
                <a:gd name="T118" fmla="*/ 18 w 825"/>
                <a:gd name="T119" fmla="*/ 9 h 1222"/>
                <a:gd name="T120" fmla="*/ 21 w 825"/>
                <a:gd name="T121" fmla="*/ 14 h 1222"/>
                <a:gd name="T122" fmla="*/ 21 w 825"/>
                <a:gd name="T123" fmla="*/ 14 h 1222"/>
                <a:gd name="T124" fmla="*/ 21 w 825"/>
                <a:gd name="T125" fmla="*/ 14 h 122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25"/>
                <a:gd name="T190" fmla="*/ 0 h 1222"/>
                <a:gd name="T191" fmla="*/ 825 w 825"/>
                <a:gd name="T192" fmla="*/ 1222 h 1222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25" h="1222">
                  <a:moveTo>
                    <a:pt x="258" y="123"/>
                  </a:moveTo>
                  <a:lnTo>
                    <a:pt x="355" y="238"/>
                  </a:lnTo>
                  <a:lnTo>
                    <a:pt x="441" y="351"/>
                  </a:lnTo>
                  <a:lnTo>
                    <a:pt x="516" y="464"/>
                  </a:lnTo>
                  <a:lnTo>
                    <a:pt x="582" y="571"/>
                  </a:lnTo>
                  <a:lnTo>
                    <a:pt x="640" y="670"/>
                  </a:lnTo>
                  <a:lnTo>
                    <a:pt x="688" y="764"/>
                  </a:lnTo>
                  <a:lnTo>
                    <a:pt x="728" y="850"/>
                  </a:lnTo>
                  <a:lnTo>
                    <a:pt x="759" y="924"/>
                  </a:lnTo>
                  <a:lnTo>
                    <a:pt x="783" y="989"/>
                  </a:lnTo>
                  <a:lnTo>
                    <a:pt x="800" y="1039"/>
                  </a:lnTo>
                  <a:lnTo>
                    <a:pt x="810" y="1080"/>
                  </a:lnTo>
                  <a:lnTo>
                    <a:pt x="818" y="1115"/>
                  </a:lnTo>
                  <a:lnTo>
                    <a:pt x="824" y="1145"/>
                  </a:lnTo>
                  <a:lnTo>
                    <a:pt x="825" y="1170"/>
                  </a:lnTo>
                  <a:lnTo>
                    <a:pt x="825" y="1188"/>
                  </a:lnTo>
                  <a:lnTo>
                    <a:pt x="822" y="1204"/>
                  </a:lnTo>
                  <a:lnTo>
                    <a:pt x="818" y="1214"/>
                  </a:lnTo>
                  <a:lnTo>
                    <a:pt x="811" y="1221"/>
                  </a:lnTo>
                  <a:lnTo>
                    <a:pt x="803" y="1222"/>
                  </a:lnTo>
                  <a:lnTo>
                    <a:pt x="793" y="1222"/>
                  </a:lnTo>
                  <a:lnTo>
                    <a:pt x="782" y="1218"/>
                  </a:lnTo>
                  <a:lnTo>
                    <a:pt x="773" y="1211"/>
                  </a:lnTo>
                  <a:lnTo>
                    <a:pt x="766" y="1201"/>
                  </a:lnTo>
                  <a:lnTo>
                    <a:pt x="762" y="1190"/>
                  </a:lnTo>
                  <a:lnTo>
                    <a:pt x="758" y="1177"/>
                  </a:lnTo>
                  <a:lnTo>
                    <a:pt x="755" y="1166"/>
                  </a:lnTo>
                  <a:lnTo>
                    <a:pt x="752" y="1156"/>
                  </a:lnTo>
                  <a:lnTo>
                    <a:pt x="751" y="1148"/>
                  </a:lnTo>
                  <a:lnTo>
                    <a:pt x="751" y="1142"/>
                  </a:lnTo>
                  <a:lnTo>
                    <a:pt x="751" y="1139"/>
                  </a:lnTo>
                  <a:lnTo>
                    <a:pt x="723" y="1037"/>
                  </a:lnTo>
                  <a:lnTo>
                    <a:pt x="674" y="929"/>
                  </a:lnTo>
                  <a:lnTo>
                    <a:pt x="609" y="816"/>
                  </a:lnTo>
                  <a:lnTo>
                    <a:pt x="530" y="704"/>
                  </a:lnTo>
                  <a:lnTo>
                    <a:pt x="446" y="594"/>
                  </a:lnTo>
                  <a:lnTo>
                    <a:pt x="358" y="492"/>
                  </a:lnTo>
                  <a:lnTo>
                    <a:pt x="272" y="396"/>
                  </a:lnTo>
                  <a:lnTo>
                    <a:pt x="194" y="314"/>
                  </a:lnTo>
                  <a:lnTo>
                    <a:pt x="126" y="246"/>
                  </a:lnTo>
                  <a:lnTo>
                    <a:pt x="74" y="197"/>
                  </a:lnTo>
                  <a:lnTo>
                    <a:pt x="39" y="159"/>
                  </a:lnTo>
                  <a:lnTo>
                    <a:pt x="17" y="127"/>
                  </a:lnTo>
                  <a:lnTo>
                    <a:pt x="4" y="97"/>
                  </a:lnTo>
                  <a:lnTo>
                    <a:pt x="0" y="73"/>
                  </a:lnTo>
                  <a:lnTo>
                    <a:pt x="3" y="54"/>
                  </a:lnTo>
                  <a:lnTo>
                    <a:pt x="8" y="38"/>
                  </a:lnTo>
                  <a:lnTo>
                    <a:pt x="18" y="26"/>
                  </a:lnTo>
                  <a:lnTo>
                    <a:pt x="27" y="17"/>
                  </a:lnTo>
                  <a:lnTo>
                    <a:pt x="32" y="12"/>
                  </a:lnTo>
                  <a:lnTo>
                    <a:pt x="35" y="10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3" y="2"/>
                  </a:lnTo>
                  <a:lnTo>
                    <a:pt x="67" y="0"/>
                  </a:lnTo>
                  <a:lnTo>
                    <a:pt x="86" y="2"/>
                  </a:lnTo>
                  <a:lnTo>
                    <a:pt x="109" y="9"/>
                  </a:lnTo>
                  <a:lnTo>
                    <a:pt x="139" y="23"/>
                  </a:lnTo>
                  <a:lnTo>
                    <a:pt x="173" y="45"/>
                  </a:lnTo>
                  <a:lnTo>
                    <a:pt x="213" y="78"/>
                  </a:lnTo>
                  <a:lnTo>
                    <a:pt x="260" y="123"/>
                  </a:lnTo>
                  <a:lnTo>
                    <a:pt x="258" y="123"/>
                  </a:lnTo>
                  <a:close/>
                </a:path>
              </a:pathLst>
            </a:cu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>
                <a:spcBef>
                  <a:spcPts val="0"/>
                </a:spcBef>
                <a:spcAft>
                  <a:spcPts val="0"/>
                </a:spcAft>
              </a:pPr>
              <a:r>
                <a:rPr lang="en-US" sz="1200">
                  <a:effectLst/>
                  <a:latin typeface="Times New Roman"/>
                  <a:ea typeface="Times New Roman"/>
                </a:rPr>
                <a:t> </a:t>
              </a:r>
            </a:p>
          </p:txBody>
        </p:sp>
      </p:grpSp>
      <p:sp>
        <p:nvSpPr>
          <p:cNvPr id="11" name="Text Box 28">
            <a:extLst>
              <a:ext uri="{FF2B5EF4-FFF2-40B4-BE49-F238E27FC236}">
                <a16:creationId xmlns:a16="http://schemas.microsoft.com/office/drawing/2014/main" id="{8462D4D9-02A3-4385-ABD6-E40E095D0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4468" y="5555024"/>
            <a:ext cx="174599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تلفن خاموش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4" name="Picture 13" descr="CKL00032">
            <a:extLst>
              <a:ext uri="{FF2B5EF4-FFF2-40B4-BE49-F238E27FC236}">
                <a16:creationId xmlns:a16="http://schemas.microsoft.com/office/drawing/2014/main" id="{A2E2C688-45E4-4FC9-8C28-F6B55B6D1C3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906" y="1111341"/>
            <a:ext cx="1599493" cy="137662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 Box 28">
            <a:extLst>
              <a:ext uri="{FF2B5EF4-FFF2-40B4-BE49-F238E27FC236}">
                <a16:creationId xmlns:a16="http://schemas.microsoft.com/office/drawing/2014/main" id="{7498C624-43B7-400E-B901-44C48C139F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7112" y="2609497"/>
            <a:ext cx="21130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گوش دادن فعال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6" name="Picture 15" descr="AYS00029">
            <a:extLst>
              <a:ext uri="{FF2B5EF4-FFF2-40B4-BE49-F238E27FC236}">
                <a16:creationId xmlns:a16="http://schemas.microsoft.com/office/drawing/2014/main" id="{3FD70F15-A5C3-4296-985B-D115DE734C06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7333" y="3848393"/>
            <a:ext cx="1580091" cy="1714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 Box 28">
            <a:extLst>
              <a:ext uri="{FF2B5EF4-FFF2-40B4-BE49-F238E27FC236}">
                <a16:creationId xmlns:a16="http://schemas.microsoft.com/office/drawing/2014/main" id="{CB8731A1-FF32-4F2F-81DA-CC55920F85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68" y="5562600"/>
            <a:ext cx="155202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مطرح کردن</a:t>
            </a:r>
            <a:b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</a:b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ایده‌</a:t>
            </a:r>
            <a: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ها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18" name="Picture 17" descr="ANN00047">
            <a:extLst>
              <a:ext uri="{FF2B5EF4-FFF2-40B4-BE49-F238E27FC236}">
                <a16:creationId xmlns:a16="http://schemas.microsoft.com/office/drawing/2014/main" id="{A67F92F8-25D7-4ACE-865D-13FF29C1C698}"/>
              </a:ext>
            </a:extLst>
          </p:cNvPr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98831" y="3799114"/>
            <a:ext cx="2423299" cy="1763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 Box 28">
            <a:extLst>
              <a:ext uri="{FF2B5EF4-FFF2-40B4-BE49-F238E27FC236}">
                <a16:creationId xmlns:a16="http://schemas.microsoft.com/office/drawing/2014/main" id="{7E1B1FB5-AF27-4DCE-A70E-B82931DFC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8580" y="5562918"/>
            <a:ext cx="1627369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فعالیت</a:t>
            </a:r>
            <a: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‌های</a:t>
            </a:r>
            <a:br>
              <a:rPr lang="prs-AF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</a:b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 گروهی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  <p:pic>
        <p:nvPicPr>
          <p:cNvPr id="20" name="Picture 19" descr="PE01931_">
            <a:extLst>
              <a:ext uri="{FF2B5EF4-FFF2-40B4-BE49-F238E27FC236}">
                <a16:creationId xmlns:a16="http://schemas.microsoft.com/office/drawing/2014/main" id="{CC3974AC-E0FE-414E-868F-0311EF55923C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286" y="950259"/>
            <a:ext cx="1655073" cy="1763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 Box 28">
            <a:extLst>
              <a:ext uri="{FF2B5EF4-FFF2-40B4-BE49-F238E27FC236}">
                <a16:creationId xmlns:a16="http://schemas.microsoft.com/office/drawing/2014/main" id="{1A14A3D5-AC3C-40E1-9453-8DB02E275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3012" y="2609497"/>
            <a:ext cx="18293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وقت‌</a:t>
            </a:r>
            <a:r>
              <a:rPr lang="prs-AF" sz="2000" dirty="0"/>
              <a:t> </a:t>
            </a:r>
            <a:r>
              <a:rPr lang="fa-IR" sz="2000" b="1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Trebuchet MS" panose="020B0603020202020204"/>
                <a:cs typeface="+mn-cs"/>
              </a:rPr>
              <a:t>شناسی</a:t>
            </a:r>
            <a:endParaRPr lang="en-US" sz="2000" b="1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rebuchet MS" panose="020B0603020202020204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768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E97C-395B-1C53-828A-2547A3D14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/>
              <a:t>دیاگرام شبکه چیست 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1F378-1DA9-2983-B751-42BDA808B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r" rtl="1">
              <a:buNone/>
            </a:pPr>
            <a:r>
              <a:rPr lang="ps-AF" sz="3200" dirty="0"/>
              <a:t>تعریف:</a:t>
            </a:r>
            <a:endParaRPr lang="en-US" sz="3200" dirty="0"/>
          </a:p>
          <a:p>
            <a:pPr algn="r" rtl="1"/>
            <a:r>
              <a:rPr lang="fa-IR" sz="2000" dirty="0"/>
              <a:t>دیاگرام شبکه نمایش گرافیکی ساختار و روابط میان دستگاه های یک شبکه</a:t>
            </a:r>
            <a:r>
              <a:rPr lang="en-US" sz="2000" dirty="0"/>
              <a:t> </a:t>
            </a:r>
            <a:r>
              <a:rPr lang="fa-IR" sz="2000" dirty="0"/>
              <a:t>کامپیوتری می باشد</a:t>
            </a:r>
            <a:r>
              <a:rPr lang="prs-AF" sz="2000" dirty="0"/>
              <a:t> و یا</a:t>
            </a:r>
            <a:endParaRPr lang="ps-AF" sz="2000" dirty="0"/>
          </a:p>
          <a:p>
            <a:pPr algn="r" rtl="1"/>
            <a:r>
              <a:rPr lang="ps-AF" sz="2000" dirty="0"/>
              <a:t>دی</a:t>
            </a:r>
            <a:r>
              <a:rPr lang="fa-IR" sz="2000" dirty="0"/>
              <a:t>اگرام شبکه یک نقشه تصویری است که نشان می‌دهد دستگاه</a:t>
            </a:r>
            <a:r>
              <a:rPr lang="ps-AF" sz="2000" dirty="0"/>
              <a:t> </a:t>
            </a:r>
            <a:r>
              <a:rPr lang="fa-IR" sz="2000" dirty="0"/>
              <a:t>‌های مختلف مانند کمپیوترها، سرورها، روترها و سوییچ‌</a:t>
            </a:r>
            <a:r>
              <a:rPr lang="ps-AF" sz="2000" dirty="0"/>
              <a:t> </a:t>
            </a:r>
            <a:r>
              <a:rPr lang="fa-IR" sz="2000" dirty="0"/>
              <a:t>ها چگونه به</a:t>
            </a:r>
            <a:r>
              <a:rPr lang="ps-AF" sz="2000" dirty="0"/>
              <a:t> </a:t>
            </a:r>
            <a:r>
              <a:rPr lang="fa-IR" sz="2000" dirty="0"/>
              <a:t>‌هم وصل هستند و با هم ارتباط دارند. .</a:t>
            </a:r>
            <a:endParaRPr lang="ps-AF" sz="2000" dirty="0"/>
          </a:p>
          <a:p>
            <a:pPr algn="r" rtl="1"/>
            <a:endParaRPr lang="ps-AF" sz="2000" dirty="0"/>
          </a:p>
          <a:p>
            <a:pPr algn="r" rtl="1">
              <a:buNone/>
            </a:pPr>
            <a:r>
              <a:rPr lang="fa-IR" sz="2000" b="1" dirty="0"/>
              <a:t>هدف از ایجاد دیاگرام شبکه:</a:t>
            </a:r>
          </a:p>
          <a:p>
            <a:pPr algn="r" rtl="1"/>
            <a:r>
              <a:rPr lang="fa-IR" sz="2000" dirty="0"/>
              <a:t>هدف اصلی از رسم دیاگرام شبکه این است که ساختار و اجزای شبکه به‌گونهٔ تصویری و قابل‌فهم نمایش داده شود، مخصوصاً برای تیم‌های تخنیکی این دیاگرام‌ها در موارد زیر کمک می‌کنند:</a:t>
            </a:r>
          </a:p>
          <a:p>
            <a:pPr algn="r" rtl="1"/>
            <a:r>
              <a:rPr lang="en-US" sz="2000" dirty="0"/>
              <a:t>✅ </a:t>
            </a:r>
            <a:r>
              <a:rPr lang="fa-IR" sz="2000" dirty="0"/>
              <a:t>طراحی شبکه به‌</a:t>
            </a:r>
            <a:r>
              <a:rPr lang="ps-AF" sz="2000" dirty="0"/>
              <a:t> </a:t>
            </a:r>
            <a:r>
              <a:rPr lang="fa-IR" sz="2000" dirty="0"/>
              <a:t>شکل معیاری و منظم</a:t>
            </a:r>
          </a:p>
          <a:p>
            <a:pPr algn="r" rtl="1"/>
            <a:r>
              <a:rPr lang="en-US" sz="2000" dirty="0"/>
              <a:t>🔍 </a:t>
            </a:r>
            <a:r>
              <a:rPr lang="fa-IR" sz="2000" dirty="0"/>
              <a:t>تشخیص و تحلیل آسان مشکلات شبکه</a:t>
            </a:r>
          </a:p>
          <a:p>
            <a:pPr algn="r" rtl="1"/>
            <a:r>
              <a:rPr lang="en-US" sz="2000" dirty="0"/>
              <a:t>🗂️ </a:t>
            </a:r>
            <a:r>
              <a:rPr lang="fa-IR" sz="2000" dirty="0"/>
              <a:t>تهیه اسناد و مستندات دقیق تخنیکی</a:t>
            </a:r>
          </a:p>
          <a:p>
            <a:pPr algn="r" rtl="1"/>
            <a:r>
              <a:rPr lang="en-US" sz="2000" dirty="0"/>
              <a:t>🔄 </a:t>
            </a:r>
            <a:r>
              <a:rPr lang="fa-IR" sz="2000" dirty="0"/>
              <a:t>اعمال تغییرات، توسعه و مدیریت مؤثر شبکه در آینده</a:t>
            </a:r>
          </a:p>
          <a:p>
            <a:pPr algn="r" rt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0122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BB96DC-7257-4310-AA48-BEE9B2B2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A199C6C8-798B-4D00-8C47-F1D5A8867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B0BF1B-F83E-41D6-83B4-76BB733C5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5DD6DAC-841F-44E8-B772-3B0CC4F9D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>
              <a:extLst>
                <a:ext uri="{FF2B5EF4-FFF2-40B4-BE49-F238E27FC236}">
                  <a16:creationId xmlns:a16="http://schemas.microsoft.com/office/drawing/2014/main" id="{30A20FCD-ACEB-47CE-B31B-91C08ADA4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7A2B1C25-C94E-4302-99B8-C7A8AFE4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6AEEF64-15E5-4241-B44E-FD39BF126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3CE4991B-2483-477C-A8EF-EA0D3A37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>
              <a:extLst>
                <a:ext uri="{FF2B5EF4-FFF2-40B4-BE49-F238E27FC236}">
                  <a16:creationId xmlns:a16="http://schemas.microsoft.com/office/drawing/2014/main" id="{C57CCE68-31BF-4CB2-A1BA-20C70F17D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>
              <a:extLst>
                <a:ext uri="{FF2B5EF4-FFF2-40B4-BE49-F238E27FC236}">
                  <a16:creationId xmlns:a16="http://schemas.microsoft.com/office/drawing/2014/main" id="{FC67EFBD-5CEA-432B-8051-6A7B3E06D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1FF74FE3-9906-485E-94D7-2AA34D927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Content Placeholder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32151A5D-4A69-0C99-966E-06C53A2FE8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29" y="1137917"/>
            <a:ext cx="2485900" cy="1883069"/>
          </a:xfrm>
          <a:prstGeom prst="rect">
            <a:avLst/>
          </a:prstGeom>
        </p:spPr>
      </p:pic>
      <p:pic>
        <p:nvPicPr>
          <p:cNvPr id="12" name="Picture 11" descr="A computer keyboard with many blue squares&#10;&#10;AI-generated content may be incorrect.">
            <a:extLst>
              <a:ext uri="{FF2B5EF4-FFF2-40B4-BE49-F238E27FC236}">
                <a16:creationId xmlns:a16="http://schemas.microsoft.com/office/drawing/2014/main" id="{47B8B41E-03ED-E75B-24AE-81A92361B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29" y="3925464"/>
            <a:ext cx="2485900" cy="1646908"/>
          </a:xfrm>
          <a:prstGeom prst="rect">
            <a:avLst/>
          </a:prstGeom>
        </p:spPr>
      </p:pic>
      <p:pic>
        <p:nvPicPr>
          <p:cNvPr id="10" name="Picture 9" descr="A computer screen shot of a server&#10;&#10;AI-generated content may be incorrect.">
            <a:extLst>
              <a:ext uri="{FF2B5EF4-FFF2-40B4-BE49-F238E27FC236}">
                <a16:creationId xmlns:a16="http://schemas.microsoft.com/office/drawing/2014/main" id="{909DA7D8-0BC3-0B5F-A85A-A583AFD03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946" y="3589867"/>
            <a:ext cx="2485900" cy="1982505"/>
          </a:xfrm>
          <a:prstGeom prst="rect">
            <a:avLst/>
          </a:prstGeom>
        </p:spPr>
      </p:pic>
      <p:pic>
        <p:nvPicPr>
          <p:cNvPr id="6" name="Content Placeholder 5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4D05590D-298E-8C5B-8363-627C80DEDB4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5786" y="1233241"/>
            <a:ext cx="2495188" cy="16150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55BE55-67F6-D176-AD38-1528BC25A7AB}"/>
              </a:ext>
            </a:extLst>
          </p:cNvPr>
          <p:cNvSpPr txBox="1"/>
          <p:nvPr/>
        </p:nvSpPr>
        <p:spPr>
          <a:xfrm>
            <a:off x="6247448" y="1382203"/>
            <a:ext cx="30073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/>
              <a:t>Logical Network Design</a:t>
            </a:r>
            <a:br>
              <a:rPr lang="en-US" dirty="0"/>
            </a:br>
            <a:br>
              <a:rPr lang="en-US" dirty="0"/>
            </a:br>
            <a:r>
              <a:rPr lang="fa-IR" sz="1800" dirty="0"/>
              <a:t>منطقی </a:t>
            </a:r>
            <a:r>
              <a:rPr lang="en-US" sz="1800" dirty="0"/>
              <a:t>Logical</a:t>
            </a:r>
            <a:r>
              <a:rPr lang="ps-AF" sz="1800" dirty="0"/>
              <a:t>: </a:t>
            </a:r>
            <a:r>
              <a:rPr lang="fa-IR" sz="1800" dirty="0"/>
              <a:t>تمرکز بر نحوه اتصال منطقی، جریان دیتا، آدرس دهی و توپولوژی</a:t>
            </a:r>
            <a:endParaRPr lang="en-US" sz="1800" dirty="0"/>
          </a:p>
          <a:p>
            <a:pPr algn="ctr" rtl="1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9D8BCA-1B30-B469-2A31-BB7ED782FF89}"/>
              </a:ext>
            </a:extLst>
          </p:cNvPr>
          <p:cNvSpPr txBox="1"/>
          <p:nvPr/>
        </p:nvSpPr>
        <p:spPr>
          <a:xfrm>
            <a:off x="6096000" y="4058180"/>
            <a:ext cx="33999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en-US" dirty="0"/>
              <a:t>Physical Network Design</a:t>
            </a:r>
            <a:br>
              <a:rPr lang="en-US" dirty="0"/>
            </a:br>
            <a:br>
              <a:rPr lang="en-US" dirty="0"/>
            </a:br>
            <a:r>
              <a:rPr lang="fa-IR" sz="1800" dirty="0"/>
              <a:t>فزیکی</a:t>
            </a:r>
            <a:r>
              <a:rPr lang="en-US" sz="1800" dirty="0"/>
              <a:t>Physical</a:t>
            </a:r>
            <a:r>
              <a:rPr lang="ps-AF" sz="1800" dirty="0"/>
              <a:t>:</a:t>
            </a:r>
            <a:r>
              <a:rPr lang="en-US" sz="1800" dirty="0"/>
              <a:t> </a:t>
            </a:r>
            <a:r>
              <a:rPr lang="fa-IR" sz="1800" dirty="0"/>
              <a:t>نمایش واقعی دستگاهها، رکها، کیبلکشی، و موقعیت مکانی</a:t>
            </a:r>
          </a:p>
          <a:p>
            <a:pPr algn="ctr" rtl="1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D30694-2AE2-4DF6-24D3-A5C60D74C3A9}"/>
              </a:ext>
            </a:extLst>
          </p:cNvPr>
          <p:cNvCxnSpPr/>
          <p:nvPr/>
        </p:nvCxnSpPr>
        <p:spPr>
          <a:xfrm>
            <a:off x="780429" y="3424766"/>
            <a:ext cx="8746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B89E16D-F0F0-39FE-5C4A-EC0412F9B0E0}"/>
              </a:ext>
            </a:extLst>
          </p:cNvPr>
          <p:cNvSpPr txBox="1"/>
          <p:nvPr/>
        </p:nvSpPr>
        <p:spPr>
          <a:xfrm>
            <a:off x="1165981" y="214741"/>
            <a:ext cx="6259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s-AF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انواع دیا</a:t>
            </a:r>
            <a:r>
              <a:rPr lang="prs-AF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گرام های شبکه</a:t>
            </a:r>
            <a:endParaRPr lang="en-US" sz="36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AEE4E4-0335-8C1C-92F9-6B6845BC2EAE}"/>
              </a:ext>
            </a:extLst>
          </p:cNvPr>
          <p:cNvSpPr txBox="1"/>
          <p:nvPr/>
        </p:nvSpPr>
        <p:spPr>
          <a:xfrm>
            <a:off x="10295154" y="1137917"/>
            <a:ext cx="17771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Wireless Network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Cloud Network / Hybrid Network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 Center Diagram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Telecom Diagram</a:t>
            </a:r>
          </a:p>
        </p:txBody>
      </p:sp>
    </p:spTree>
    <p:extLst>
      <p:ext uri="{BB962C8B-B14F-4D97-AF65-F5344CB8AC3E}">
        <p14:creationId xmlns:p14="http://schemas.microsoft.com/office/powerpoint/2010/main" val="3389623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42A1125-BEEF-4B06-B7A6-5C89AFBF8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1AF29A-C02E-4F6E-AE31-4D61F939D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803267-175B-4586-A120-09F386B97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9ACB13-FE9A-D039-6D21-AE36703B0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890540"/>
              </p:ext>
            </p:extLst>
          </p:nvPr>
        </p:nvGraphicFramePr>
        <p:xfrm>
          <a:off x="1309195" y="1123527"/>
          <a:ext cx="9573606" cy="48269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349081">
                  <a:extLst>
                    <a:ext uri="{9D8B030D-6E8A-4147-A177-3AD203B41FA5}">
                      <a16:colId xmlns:a16="http://schemas.microsoft.com/office/drawing/2014/main" val="3534708975"/>
                    </a:ext>
                  </a:extLst>
                </a:gridCol>
                <a:gridCol w="3234388">
                  <a:extLst>
                    <a:ext uri="{9D8B030D-6E8A-4147-A177-3AD203B41FA5}">
                      <a16:colId xmlns:a16="http://schemas.microsoft.com/office/drawing/2014/main" val="2073024998"/>
                    </a:ext>
                  </a:extLst>
                </a:gridCol>
                <a:gridCol w="2990137">
                  <a:extLst>
                    <a:ext uri="{9D8B030D-6E8A-4147-A177-3AD203B41FA5}">
                      <a16:colId xmlns:a16="http://schemas.microsoft.com/office/drawing/2014/main" val="3658100629"/>
                    </a:ext>
                  </a:extLst>
                </a:gridCol>
              </a:tblGrid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400" b="1" cap="none" spc="0" dirty="0">
                          <a:solidFill>
                            <a:schemeClr val="bg1"/>
                          </a:solidFill>
                        </a:rPr>
                        <a:t>Microsoft Visio Template Name:  </a:t>
                      </a:r>
                      <a:r>
                        <a:rPr lang="fa-IR" sz="1400" b="1" cap="none" spc="0" dirty="0">
                          <a:solidFill>
                            <a:schemeClr val="bg1"/>
                          </a:solidFill>
                        </a:rPr>
                        <a:t>نام تمپلیت</a:t>
                      </a:r>
                    </a:p>
                  </a:txBody>
                  <a:tcPr marL="97285" marR="29143" marT="74834" marB="74834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b="1" cap="none" spc="0" dirty="0">
                          <a:solidFill>
                            <a:schemeClr val="bg1"/>
                          </a:solidFill>
                        </a:rPr>
                        <a:t>توضیحات</a:t>
                      </a:r>
                    </a:p>
                  </a:txBody>
                  <a:tcPr marL="97285" marR="29143" marT="74834" marB="74834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400" b="1" cap="none" spc="0" dirty="0">
                          <a:solidFill>
                            <a:schemeClr val="bg1"/>
                          </a:solidFill>
                        </a:rPr>
                        <a:t>کاربرد</a:t>
                      </a:r>
                    </a:p>
                  </a:txBody>
                  <a:tcPr marL="97285" marR="29143" marT="74834" marB="74834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927002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Basic Network Diagram 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شبکه ساده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برای رسم دیاگرام‌های ابتدایی و کوچک شبکه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شبکه‌های کوچک، دفاتر شخصی، پلان ابتدایی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607906518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Detailed Network Diagram 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شبکه تفصیلی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  </a:t>
                      </a:r>
                      <a:endParaRPr lang="fa-IR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تمپلیت مسلکی با اشکال تخنیکی پیشرفته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شبکه‌های سازمانی، تیم‌های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IT </a:t>
                      </a:r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و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NOC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3199428010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Logical Network Diagram 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منطقی شبکه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fa-IR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نشان‌دهنده جریان منطقی داده‌ها در شبکه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طراحی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VLAN، IP Address، </a:t>
                      </a:r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توپولوژی مفهومی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508815994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Rack Diagram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رک سرور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برای نمایش تجهیزات در رک سرور به‌صورت تصویری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دیتاسنترها، اتاق‌های سرور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3572821389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Data Center Network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شبکه دیتاسنتر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دیاگرام تخصصی برای سوییچ، سرور، ذخیره‌سازی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زیرساخت‌های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IT </a:t>
                      </a:r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سازمانی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3075613997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Azure Diagram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Azure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با اشکال و سرویس‌های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Microsoft Azure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طراحی شبکه‌های ابری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2975322738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AWS Architecture Diagram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معماری 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AWS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شامل شکل‌های سرویس‌های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Amazon AWS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سیستم‌های میزبانی‌شده در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AWS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458773334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Cisco Network Topology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توپولوژی شبکه 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Cisco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استفاده از شکل‌های رسمی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Cisco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شبکه‌های شرکتی مبتنی بر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Cisco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1853567005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Telecom and VoIP Diagram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مخابرات و 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VoIP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نمایش سیستم‌های تلفن، صوتی، سانترال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مراکز تماس، شبکه‌های صوتی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1682814265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Wireless Network Diagram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شبکه وایرلس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نشان‌دهنده </a:t>
                      </a:r>
                      <a:r>
                        <a:rPr lang="en-US" sz="1100" cap="none" spc="0" dirty="0">
                          <a:solidFill>
                            <a:schemeClr val="tx1"/>
                          </a:solidFill>
                        </a:rPr>
                        <a:t>WAP، 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روتر، نواحی سیگنال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شبکه وای‌فای ادارات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1334085054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Network Security Diagram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امنیت شبکه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تمرکز بر فایروال، </a:t>
                      </a:r>
                      <a:r>
                        <a:rPr lang="en-US" sz="1100" cap="none" spc="0">
                          <a:solidFill>
                            <a:schemeClr val="tx1"/>
                          </a:solidFill>
                        </a:rPr>
                        <a:t>DMZ، IDS </a:t>
                      </a:r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و امنیت شبکه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تیم‌های سایبری و امنیتی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1218509311"/>
                  </a:ext>
                </a:extLst>
              </a:tr>
              <a:tr h="354216">
                <a:tc>
                  <a:txBody>
                    <a:bodyPr/>
                    <a:lstStyle/>
                    <a:p>
                      <a:pPr algn="l" rtl="0"/>
                      <a:r>
                        <a:rPr lang="en-US" sz="1100" b="1" cap="none" spc="0" dirty="0">
                          <a:solidFill>
                            <a:schemeClr val="tx1"/>
                          </a:solidFill>
                        </a:rPr>
                        <a:t>Active Directory Diagram</a:t>
                      </a:r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دیاگرام دایرکتوری اکتیو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>
                          <a:solidFill>
                            <a:schemeClr val="tx1"/>
                          </a:solidFill>
                        </a:rPr>
                        <a:t>نمایش دامنه‌ها، کاربران، روابط سازمانی</a:t>
                      </a:r>
                    </a:p>
                  </a:txBody>
                  <a:tcPr marL="97285" marR="29143" marT="74834" marB="74834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fa-IR" sz="1100" cap="none" spc="0" dirty="0">
                          <a:solidFill>
                            <a:schemeClr val="tx1"/>
                          </a:solidFill>
                        </a:rPr>
                        <a:t>مدیریت اکتیو دایرکتوری در سازمان‌ها</a:t>
                      </a:r>
                    </a:p>
                  </a:txBody>
                  <a:tcPr marL="97285" marR="29143" marT="74834" marB="74834" anchor="ctr"/>
                </a:tc>
                <a:extLst>
                  <a:ext uri="{0D108BD9-81ED-4DB2-BD59-A6C34878D82A}">
                    <a16:rowId xmlns:a16="http://schemas.microsoft.com/office/drawing/2014/main" val="2385917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181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91D5E-2191-C4F6-13D2-063224A25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rs-AF" dirty="0"/>
              <a:t>اجزای مهم شبکه</a:t>
            </a:r>
            <a:endParaRPr lang="en-US" dirty="0"/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BBB4D297-CD01-E91B-EF25-DC9CA928B3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046216"/>
              </p:ext>
            </p:extLst>
          </p:nvPr>
        </p:nvGraphicFramePr>
        <p:xfrm>
          <a:off x="732757" y="2160588"/>
          <a:ext cx="8486525" cy="3881444"/>
        </p:xfrm>
        <a:graphic>
          <a:graphicData uri="http://schemas.openxmlformats.org/drawingml/2006/table">
            <a:tbl>
              <a:tblPr firstRow="1" firstCol="1" bandRow="1"/>
              <a:tblGrid>
                <a:gridCol w="5749929">
                  <a:extLst>
                    <a:ext uri="{9D8B030D-6E8A-4147-A177-3AD203B41FA5}">
                      <a16:colId xmlns:a16="http://schemas.microsoft.com/office/drawing/2014/main" val="2542805844"/>
                    </a:ext>
                  </a:extLst>
                </a:gridCol>
                <a:gridCol w="2736596">
                  <a:extLst>
                    <a:ext uri="{9D8B030D-6E8A-4147-A177-3AD203B41FA5}">
                      <a16:colId xmlns:a16="http://schemas.microsoft.com/office/drawing/2014/main" val="2257467583"/>
                    </a:ext>
                  </a:extLst>
                </a:gridCol>
              </a:tblGrid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📝</a:t>
                      </a:r>
                      <a:r>
                        <a:rPr lang="en-US" sz="1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AE" sz="1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توضیح وظایف</a:t>
                      </a:r>
                      <a:endParaRPr lang="ar-AE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Segoe UI Emoji" panose="020B0502040204020203" pitchFamily="34" charset="0"/>
                        </a:rPr>
                        <a:t>🖥️</a:t>
                      </a:r>
                      <a:r>
                        <a:rPr lang="en-US" sz="1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ar-AE" sz="1300" b="1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نام جزء شبکه</a:t>
                      </a:r>
                      <a:endParaRPr lang="ar-AE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62900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اتصال شبکه‌های مختلف و هدایت ترافیک بین آن‌ها (مثل اتصال </a:t>
                      </a:r>
                      <a:r>
                        <a:rPr lang="en-US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LAN </a:t>
                      </a: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به اینترنت)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روتر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Router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847882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اتصال دستگاه‌ها در شبکه محلی و مدیریت انتقال داده‌ها بین آن‌ها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سوییچ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Switch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831687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دریافت سیگنال انترنت از </a:t>
                      </a:r>
                      <a:r>
                        <a:rPr lang="en-US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ISP </a:t>
                      </a: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و تبدیل آن برای استفاده در شبکه داخلی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مودم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Modem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848499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حفاظت از شبکه در برابر حملات و کنترول دسترسی به منابع شبکه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فایروال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Firewall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029168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ارائه خدمات مرکزی مانند فایل، دیتابیس، اپلیکیشن یا چاپ برای کاربران شبکه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سرور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Server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383993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دستگاه‌های کاربران که از منابع و خدمات شبکه استفاده می‌کنند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کمپیوتر کلاینت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Client PC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146626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فراهم‌سازی اتصال بی‌سیم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Wi-Fi </a:t>
                      </a: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برای موبایل‌ها، لپ‌تاپ‌ها و تبلت‌ها</a:t>
                      </a:r>
                      <a:endParaRPr lang="ar-SA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نقطه دسترسی بی‌سیم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WAP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2825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چاپگری که به‌صورت اشتراکی در شبکه برای چاپ اسناد استفاده می‌شود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پرنتر شبکه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Network Printer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968948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وسیله فزیکی برای انتقال داده‌ها بین تجهیزات شبکه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کابل شبکه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Network Cable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0628669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ارائه خدمات آنلاین مانند ذخیره‌سازی، میزبانی و پردازش داده‌ها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ابر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Cloud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694658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تأمین برق اضطراری برای جلوگیری از خاموشی ناگهانی تجهیزات شبکه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یو‌پی‌اس </a:t>
                      </a: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UPS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99538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ابزار نظم‌دهی و اتصال کابل‌ها در رک یا اتاق شبکه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Patch Panel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80531"/>
                  </a:ext>
                </a:extLst>
              </a:tr>
              <a:tr h="277246"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3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مدیریت مرکزی نقاط دسترسی بی‌سیم در شبکه‌های بزرگ</a:t>
                      </a:r>
                      <a:endParaRPr lang="ar-SA" sz="19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 fontAlgn="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Access Point Controller</a:t>
                      </a:r>
                      <a:endParaRPr lang="en-US" sz="19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152" marR="74152" marT="1029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680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8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8B3F6-3EA2-47F4-AF9D-BA2295F4F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prs-AF" dirty="0"/>
              <a:t>توپولوژی شبکه</a:t>
            </a:r>
            <a:endParaRPr lang="en-US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7E892E5-EDA4-AA3D-5CE6-5867A3421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337544"/>
              </p:ext>
            </p:extLst>
          </p:nvPr>
        </p:nvGraphicFramePr>
        <p:xfrm>
          <a:off x="1188961" y="2318657"/>
          <a:ext cx="9618134" cy="3968815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6899142">
                  <a:extLst>
                    <a:ext uri="{9D8B030D-6E8A-4147-A177-3AD203B41FA5}">
                      <a16:colId xmlns:a16="http://schemas.microsoft.com/office/drawing/2014/main" val="1978457715"/>
                    </a:ext>
                  </a:extLst>
                </a:gridCol>
                <a:gridCol w="2718992">
                  <a:extLst>
                    <a:ext uri="{9D8B030D-6E8A-4147-A177-3AD203B41FA5}">
                      <a16:colId xmlns:a16="http://schemas.microsoft.com/office/drawing/2014/main" val="3014685554"/>
                    </a:ext>
                  </a:extLst>
                </a:gridCol>
              </a:tblGrid>
              <a:tr h="662875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20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ویژگی‌ ها</a:t>
                      </a:r>
                      <a:endParaRPr lang="en-US" sz="20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49458" marT="149458" marB="1494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20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نوع توپولوژی</a:t>
                      </a:r>
                      <a:endParaRPr lang="en-US" sz="20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49458" marT="149458" marB="1494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26498"/>
                  </a:ext>
                </a:extLst>
              </a:tr>
              <a:tr h="550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تمام دستگاه‌ها به یک نقطه مرکزی (سویچ) متصل می‌باشند</a:t>
                      </a:r>
                      <a:r>
                        <a:rPr lang="en-US" sz="15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.</a:t>
                      </a:r>
                      <a:endParaRPr lang="en-US" sz="15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ستاره‌ای</a:t>
                      </a:r>
                      <a:r>
                        <a:rPr lang="en-US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(Star)</a:t>
                      </a:r>
                      <a:endParaRPr lang="en-US" sz="15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378474"/>
                  </a:ext>
                </a:extLst>
              </a:tr>
              <a:tr h="550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هر دستگاه با چندین دستگاه دیگر ارتباط دارد؛ پایداری بالا اما هزینه‌بر</a:t>
                      </a:r>
                      <a:r>
                        <a:rPr lang="en-US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.</a:t>
                      </a:r>
                      <a:endParaRPr lang="en-US" sz="15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مش</a:t>
                      </a:r>
                      <a:r>
                        <a:rPr lang="en-US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(Mesh)</a:t>
                      </a:r>
                      <a:endParaRPr lang="en-US" sz="15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587894"/>
                  </a:ext>
                </a:extLst>
              </a:tr>
              <a:tr h="550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دستگاه‌ها در یک مسیر دایره‌ای متصل‌اند؛ ترافیک در یک جهت</a:t>
                      </a:r>
                      <a:r>
                        <a:rPr lang="en-US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.</a:t>
                      </a:r>
                      <a:endParaRPr lang="en-US" sz="15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حلقه‌ای</a:t>
                      </a:r>
                      <a:r>
                        <a:rPr lang="en-US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(Ring)</a:t>
                      </a:r>
                      <a:endParaRPr lang="en-US" sz="15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082704"/>
                  </a:ext>
                </a:extLst>
              </a:tr>
              <a:tr h="550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تمام دستگاه‌ها روی یک کابل یا خط مشترک هستند؛ ساده ولی محدود</a:t>
                      </a:r>
                      <a:r>
                        <a:rPr lang="en-US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.</a:t>
                      </a:r>
                      <a:endParaRPr lang="en-US" sz="15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بس</a:t>
                      </a:r>
                      <a:r>
                        <a:rPr lang="en-US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(Bus)</a:t>
                      </a:r>
                      <a:endParaRPr lang="en-US" sz="15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906460"/>
                  </a:ext>
                </a:extLst>
              </a:tr>
              <a:tr h="550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دستگاه‌ها به‌صورت سلسله‌مراتبی متصل شده‌اند</a:t>
                      </a:r>
                      <a:endParaRPr lang="en-US" sz="15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درختی</a:t>
                      </a:r>
                      <a:r>
                        <a:rPr lang="en-US" sz="15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(Tree)</a:t>
                      </a:r>
                      <a:endParaRPr lang="en-US" sz="1500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274837"/>
                  </a:ext>
                </a:extLst>
              </a:tr>
              <a:tr h="550990"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b="1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ترکیبی از چند توپولوژی مختلف	</a:t>
                      </a:r>
                      <a:endParaRPr lang="en-US" sz="1500" b="1" kern="1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2700" cmpd="sng">
                      <a:noFill/>
                      <a:prstDash val="soli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ar-SA" sz="15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ترکیبی</a:t>
                      </a:r>
                      <a:r>
                        <a:rPr lang="en-US" sz="150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 (Hybrid)</a:t>
                      </a:r>
                      <a:endParaRPr lang="en-US" sz="150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49097" marR="129530" marT="129530" marB="129530" anchor="ctr">
                    <a:lnL w="1905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536762"/>
                  </a:ext>
                </a:extLst>
              </a:tr>
            </a:tbl>
          </a:graphicData>
        </a:graphic>
      </p:graphicFrame>
      <p:pic>
        <p:nvPicPr>
          <p:cNvPr id="9" name="Picture 8" descr="A group of images of different shapes&#10;&#10;AI-generated content may be incorrect.">
            <a:extLst>
              <a:ext uri="{FF2B5EF4-FFF2-40B4-BE49-F238E27FC236}">
                <a16:creationId xmlns:a16="http://schemas.microsoft.com/office/drawing/2014/main" id="{2AEE65CB-0E8C-CA8D-C235-A4C8259EA0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673" y="130629"/>
            <a:ext cx="3809422" cy="2188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91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E1DE-0981-DC40-9993-03697AC1E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5544" y="2781075"/>
            <a:ext cx="3624142" cy="3880773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br>
              <a:rPr lang="fa-I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</a:br>
            <a:r>
              <a:rPr lang="fa-I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سناریو آموزشی– طراحی شبکه داخلی (</a:t>
            </a:r>
            <a:r>
              <a:rPr lang="en-US" b="1" kern="100" dirty="0">
                <a:effectLst/>
                <a:latin typeface="Bahij Nazanin" panose="02040703060201020203" pitchFamily="18" charset="-78"/>
                <a:ea typeface="Aptos" panose="020B0004020202020204" pitchFamily="34" charset="0"/>
                <a:cs typeface="Arial" panose="020B0604020202020204" pitchFamily="34" charset="0"/>
              </a:rPr>
              <a:t>LAN</a:t>
            </a:r>
            <a:r>
              <a:rPr lang="fa-I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) برای یک اداره متشکل از </a:t>
            </a:r>
            <a:r>
              <a:rPr lang="ps-AF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دیپارتمنت های </a:t>
            </a:r>
            <a:r>
              <a:rPr lang="en-US" b="1" kern="100" dirty="0">
                <a:effectLst/>
                <a:latin typeface="Bahij Nazanin" panose="02040703060201020203" pitchFamily="18" charset="-78"/>
                <a:ea typeface="Aptos" panose="020B0004020202020204" pitchFamily="34" charset="0"/>
                <a:cs typeface="Arial" panose="020B0604020202020204" pitchFamily="34" charset="0"/>
              </a:rPr>
              <a:t>IT</a:t>
            </a:r>
            <a:r>
              <a:rPr lang="fa-IR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، مالی و منابع </a:t>
            </a:r>
            <a:r>
              <a:rPr lang="ps-AF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Bahij Nazanin" panose="02040703060201020203" pitchFamily="18" charset="-78"/>
              </a:rPr>
              <a:t>بشری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rtl="1"/>
            <a:endParaRPr lang="en-US" dirty="0"/>
          </a:p>
        </p:txBody>
      </p:sp>
      <p:pic>
        <p:nvPicPr>
          <p:cNvPr id="5" name="Picture 4" descr="A diagram of a cloud computing network&#10;&#10;AI-generated content may be incorrect.">
            <a:extLst>
              <a:ext uri="{FF2B5EF4-FFF2-40B4-BE49-F238E27FC236}">
                <a16:creationId xmlns:a16="http://schemas.microsoft.com/office/drawing/2014/main" id="{8C141FD0-E5E2-6E97-B58A-A33CB12DA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" r="2277" b="3"/>
          <a:stretch>
            <a:fillRect/>
          </a:stretch>
        </p:blipFill>
        <p:spPr>
          <a:xfrm>
            <a:off x="677334" y="2159331"/>
            <a:ext cx="5423429" cy="388236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70BBC3A-107B-AE9C-AEF0-DCB399B4E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ps-AF" dirty="0"/>
              <a:t>کار عملی (طراحی دیا</a:t>
            </a:r>
            <a:r>
              <a:rPr lang="prs-AF" dirty="0"/>
              <a:t>گ</a:t>
            </a:r>
            <a:r>
              <a:rPr lang="ps-AF" dirty="0"/>
              <a:t>رام شبکه)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721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415A2-C92A-0159-BCD6-DDDBE924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rs-AF" dirty="0"/>
              <a:t>سناریو تمرین انفرادی / گروپی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D5FFB-DF40-B859-C0E3-00DB2274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sz="1800" i="0" u="none" strike="noStrike" baseline="0" dirty="0">
                <a:latin typeface="BahijNazanin-Bold"/>
              </a:rPr>
              <a:t>عنوان : </a:t>
            </a:r>
            <a:endParaRPr lang="ps-AF" sz="1800" i="0" u="none" strike="noStrike" baseline="0" dirty="0">
              <a:latin typeface="BahijNazanin-Bold"/>
            </a:endParaRPr>
          </a:p>
          <a:p>
            <a:pPr marL="0" indent="0" algn="r" rtl="1">
              <a:buNone/>
            </a:pPr>
            <a:r>
              <a:rPr lang="fa-IR" sz="1800" i="0" u="none" strike="noStrike" baseline="0" dirty="0">
                <a:latin typeface="BahijNazanin-Bold"/>
              </a:rPr>
              <a:t>طراحی شبکه ساده بخش </a:t>
            </a:r>
            <a:r>
              <a:rPr lang="en-US" sz="1800" i="0" u="none" strike="noStrike" baseline="0" dirty="0">
                <a:latin typeface="BahijNazanin-Bold"/>
              </a:rPr>
              <a:t>IT </a:t>
            </a:r>
            <a:r>
              <a:rPr lang="fa-IR" sz="1800" i="0" u="none" strike="noStrike" baseline="0" dirty="0">
                <a:latin typeface="BahijNazanin-Bold"/>
              </a:rPr>
              <a:t>یک اداره</a:t>
            </a:r>
            <a:endParaRPr lang="ps-AF" sz="1800" i="0" u="none" strike="noStrike" baseline="0" dirty="0">
              <a:latin typeface="BahijNazanin-Bold"/>
            </a:endParaRPr>
          </a:p>
          <a:p>
            <a:pPr algn="r" rtl="1"/>
            <a:endParaRPr lang="ps-AF" dirty="0">
              <a:latin typeface="BahijNazanin-Bold"/>
            </a:endParaRPr>
          </a:p>
          <a:p>
            <a:pPr algn="r" rtl="1"/>
            <a:r>
              <a:rPr lang="fa-IR" sz="1800" i="0" u="none" strike="noStrike" baseline="0" dirty="0">
                <a:latin typeface="BahijNazanin-Bold"/>
              </a:rPr>
              <a:t>شرح سناریو :</a:t>
            </a:r>
          </a:p>
          <a:p>
            <a:pPr marL="0" indent="0" algn="r" rtl="1">
              <a:buNone/>
            </a:pPr>
            <a:r>
              <a:rPr lang="fa-IR" sz="1800" i="0" u="none" strike="noStrike" baseline="0" dirty="0">
                <a:latin typeface="BahijNazanin-Bold"/>
              </a:rPr>
              <a:t>شما کارمند بخش </a:t>
            </a:r>
            <a:r>
              <a:rPr lang="en-US" sz="1800" i="0" u="none" strike="noStrike" baseline="0" dirty="0">
                <a:latin typeface="BahijNazanin-Bold"/>
              </a:rPr>
              <a:t>IT</a:t>
            </a:r>
            <a:r>
              <a:rPr lang="ps-AF" sz="1800" i="0" u="none" strike="noStrike" baseline="0" dirty="0">
                <a:latin typeface="BahijNazanin-Bold"/>
              </a:rPr>
              <a:t> </a:t>
            </a:r>
            <a:r>
              <a:rPr lang="en-US" sz="1800" i="0" u="none" strike="noStrike" baseline="0" dirty="0">
                <a:latin typeface="BahijNazanin-Bold"/>
              </a:rPr>
              <a:t> </a:t>
            </a:r>
            <a:r>
              <a:rPr lang="fa-IR" sz="1800" i="0" u="none" strike="noStrike" baseline="0" dirty="0">
                <a:latin typeface="BahijNazanin-Bold"/>
              </a:rPr>
              <a:t>یک اداره هستید و وظیفه دارید یک دیاگرام ساده از تجهیزات و ارتباطات شبکه در بخش خود را</a:t>
            </a:r>
            <a:r>
              <a:rPr lang="ps-AF" sz="1800" i="0" u="none" strike="noStrike" baseline="0" dirty="0">
                <a:latin typeface="BahijNazanin-Bold"/>
              </a:rPr>
              <a:t> </a:t>
            </a:r>
            <a:r>
              <a:rPr lang="fa-IR" sz="1800" i="0" u="none" strike="noStrike" baseline="0" dirty="0">
                <a:latin typeface="BahijNazanin-Bold"/>
              </a:rPr>
              <a:t>طراحی نمایید. این دیاگرام باید ساختار اساسی شبکه محلی </a:t>
            </a:r>
            <a:r>
              <a:rPr lang="ps-AF" sz="1800" i="0" u="none" strike="noStrike" baseline="0" dirty="0">
                <a:latin typeface="BahijNazanin-Bold"/>
              </a:rPr>
              <a:t>(</a:t>
            </a:r>
            <a:r>
              <a:rPr lang="en-US" sz="1800" i="0" u="none" strike="noStrike" baseline="0" dirty="0">
                <a:latin typeface="BahijNazanin-Bold"/>
              </a:rPr>
              <a:t>LAN</a:t>
            </a:r>
            <a:r>
              <a:rPr lang="ps-AF" sz="1800" i="0" u="none" strike="noStrike" baseline="0" dirty="0">
                <a:latin typeface="BahijNazanin-Bold"/>
              </a:rPr>
              <a:t>) </a:t>
            </a:r>
            <a:r>
              <a:rPr lang="fa-IR" sz="1800" i="0" u="none" strike="noStrike" baseline="0" dirty="0">
                <a:latin typeface="BahijNazanin-Bold"/>
              </a:rPr>
              <a:t>را نمایش دهد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972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Question mark against red wall">
            <a:extLst>
              <a:ext uri="{FF2B5EF4-FFF2-40B4-BE49-F238E27FC236}">
                <a16:creationId xmlns:a16="http://schemas.microsoft.com/office/drawing/2014/main" id="{8155F1BC-1859-8DCD-CBB2-56E4374BC3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12" r="1" b="1"/>
          <a:stretch>
            <a:fillRect/>
          </a:stretch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98B0E1-45E6-4B9B-FAFA-95B5E86B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847" y="2158116"/>
            <a:ext cx="4319210" cy="1077687"/>
          </a:xfrm>
        </p:spPr>
        <p:txBody>
          <a:bodyPr>
            <a:normAutofit/>
          </a:bodyPr>
          <a:lstStyle/>
          <a:p>
            <a:pPr algn="ctr"/>
            <a:r>
              <a:rPr lang="fa-IR" dirty="0"/>
              <a:t>پرسش و پاسخ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13695C0-5761-8555-1BD2-598AC18161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3" y="3622197"/>
            <a:ext cx="4754638" cy="38807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r" defTabSz="914400" rt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fa-IR" dirty="0"/>
              <a:t>آیا توقعات مشخصی از طرف شما وجود دارد؟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algn="r" defTabSz="914400" rtl="1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lang="fa-IR" dirty="0"/>
              <a:t>پیشنهادات در مورد محتوا یا بخش‌های مورد تمرکز دارید؟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4857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344</TotalTime>
  <Words>897</Words>
  <Application>Microsoft Office PowerPoint</Application>
  <PresentationFormat>Widescreen</PresentationFormat>
  <Paragraphs>134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Bahij Nazanin</vt:lpstr>
      <vt:lpstr>BahijNazanin-Bold</vt:lpstr>
      <vt:lpstr>Times New Roman</vt:lpstr>
      <vt:lpstr>Trebuchet MS</vt:lpstr>
      <vt:lpstr>Wingdings 3</vt:lpstr>
      <vt:lpstr>Facet</vt:lpstr>
      <vt:lpstr> آموزش برنامه مایکروسافت ویزیو</vt:lpstr>
      <vt:lpstr>روز ۲</vt:lpstr>
      <vt:lpstr>اجندای روز دوم برنامه آموزشی  Microsoft Visio</vt:lpstr>
      <vt:lpstr>مقررات آموزش</vt:lpstr>
      <vt:lpstr>دیاگرام شبکه چیست ؟</vt:lpstr>
      <vt:lpstr>PowerPoint Presentation</vt:lpstr>
      <vt:lpstr>PowerPoint Presentation</vt:lpstr>
      <vt:lpstr>اجزای مهم شبکه</vt:lpstr>
      <vt:lpstr>توپولوژی شبکه</vt:lpstr>
      <vt:lpstr>کار عملی (طراحی دیاگرام شبکه) </vt:lpstr>
      <vt:lpstr>سناریو تمرین انفرادی / گروپی</vt:lpstr>
      <vt:lpstr>پرسش و پاسخ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milad kakar</dc:creator>
  <cp:lastModifiedBy>milad kakar</cp:lastModifiedBy>
  <cp:revision>58</cp:revision>
  <dcterms:created xsi:type="dcterms:W3CDTF">2025-07-29T03:24:42Z</dcterms:created>
  <dcterms:modified xsi:type="dcterms:W3CDTF">2025-08-02T07:21:34Z</dcterms:modified>
</cp:coreProperties>
</file>